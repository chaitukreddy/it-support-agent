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mo Bold" charset="1" panose="020B0704020202020204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78451" cy="10295039"/>
            <a:chOff x="0" y="0"/>
            <a:chExt cx="2379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8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78569" y="2590991"/>
            <a:ext cx="13177657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8FA6FF"/>
                </a:solidFill>
                <a:latin typeface="Arimo Bold"/>
                <a:ea typeface="Arimo Bold"/>
                <a:cs typeface="Arimo Bold"/>
                <a:sym typeface="Arimo Bold"/>
              </a:rPr>
              <a:t>CAPSTONE PROJECT  ·  AGENTIC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8569" y="3077299"/>
            <a:ext cx="14550323" cy="248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1"/>
              </a:lnSpc>
            </a:pPr>
            <a:r>
              <a:rPr lang="en-US" sz="810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IT Support Assistant</a:t>
            </a:r>
          </a:p>
          <a:p>
            <a:pPr algn="l">
              <a:lnSpc>
                <a:spcPts val="4620"/>
              </a:lnSpc>
            </a:pPr>
            <a:r>
              <a:rPr lang="en-US" sz="2852">
                <a:solidFill>
                  <a:srgbClr val="B6C0D6"/>
                </a:solidFill>
                <a:latin typeface="Arimo"/>
                <a:ea typeface="Arimo"/>
                <a:cs typeface="Arimo"/>
                <a:sym typeface="Arimo"/>
              </a:rPr>
              <a:t>An agentic help desk that answers, looks up, and raises tickets —</a:t>
            </a:r>
          </a:p>
          <a:p>
            <a:pPr algn="l">
              <a:lnSpc>
                <a:spcPts val="4620"/>
              </a:lnSpc>
            </a:pPr>
            <a:r>
              <a:rPr lang="en-US" sz="2852">
                <a:solidFill>
                  <a:srgbClr val="B6C0D6"/>
                </a:solidFill>
                <a:latin typeface="Arimo"/>
                <a:ea typeface="Arimo"/>
                <a:cs typeface="Arimo"/>
                <a:sym typeface="Arimo"/>
              </a:rPr>
              <a:t>but never writes without permission.</a:t>
            </a:r>
          </a:p>
        </p:txBody>
      </p:sp>
      <p:sp>
        <p:nvSpPr>
          <p:cNvPr name="AutoShape 8" id="8"/>
          <p:cNvSpPr/>
          <p:nvPr/>
        </p:nvSpPr>
        <p:spPr>
          <a:xfrm rot="12360">
            <a:off x="1569025" y="6474247"/>
            <a:ext cx="5303891" cy="0"/>
          </a:xfrm>
          <a:prstGeom prst="line">
            <a:avLst/>
          </a:prstGeom>
          <a:ln cap="rnd" w="9525">
            <a:solidFill>
              <a:srgbClr val="3A45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78569" y="6718525"/>
            <a:ext cx="14413059" cy="77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>
                <a:solidFill>
                  <a:srgbClr val="9AA7C2"/>
                </a:solidFill>
                <a:latin typeface="Arimo"/>
                <a:ea typeface="Arimo"/>
                <a:cs typeface="Arimo"/>
                <a:sym typeface="Arimo"/>
              </a:rPr>
              <a:t>LangGraph orchestration  ·  5 tools  ·  SQLite  ·  BM25 retrieval  ·  Streamlit</a:t>
            </a:r>
          </a:p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6E7B96"/>
                </a:solidFill>
                <a:latin typeface="Arimo"/>
                <a:ea typeface="Arimo"/>
                <a:cs typeface="Arimo"/>
                <a:sym typeface="Arimo"/>
              </a:rPr>
              <a:t>Local-first: runs with Ollama.  Claude support builtin.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Service desks drown in a handful of requests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41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Repetitive, but not scripted - which is exactly why scripts and chatbots fail at them.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774" y="9514580"/>
            <a:ext cx="15968301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Non-technical framing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6287" y="2762317"/>
            <a:ext cx="5114954" cy="3246749"/>
            <a:chOff x="0" y="0"/>
            <a:chExt cx="6819938" cy="43289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19900" cy="4328922"/>
            </a:xfrm>
            <a:custGeom>
              <a:avLst/>
              <a:gdLst/>
              <a:ahLst/>
              <a:cxnLst/>
              <a:rect r="r" b="b" t="t" l="l"/>
              <a:pathLst>
                <a:path h="4328922" w="6819900">
                  <a:moveTo>
                    <a:pt x="0" y="259715"/>
                  </a:moveTo>
                  <a:cubicBezTo>
                    <a:pt x="0" y="116332"/>
                    <a:pt x="116332" y="0"/>
                    <a:pt x="259715" y="0"/>
                  </a:cubicBezTo>
                  <a:lnTo>
                    <a:pt x="6560185" y="0"/>
                  </a:lnTo>
                  <a:cubicBezTo>
                    <a:pt x="6703695" y="0"/>
                    <a:pt x="6819900" y="116332"/>
                    <a:pt x="6819900" y="259715"/>
                  </a:cubicBezTo>
                  <a:lnTo>
                    <a:pt x="6819900" y="4069207"/>
                  </a:lnTo>
                  <a:cubicBezTo>
                    <a:pt x="6819900" y="4212717"/>
                    <a:pt x="6703568" y="4328922"/>
                    <a:pt x="6560185" y="4328922"/>
                  </a:cubicBezTo>
                  <a:lnTo>
                    <a:pt x="259715" y="4328922"/>
                  </a:lnTo>
                  <a:cubicBezTo>
                    <a:pt x="116332" y="4329049"/>
                    <a:pt x="0" y="4212717"/>
                    <a:pt x="0" y="4069207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4" y="2772794"/>
            <a:ext cx="102946" cy="3225784"/>
            <a:chOff x="0" y="0"/>
            <a:chExt cx="137262" cy="43010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28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23667" y="2961608"/>
            <a:ext cx="4380195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Same intent, different words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3667" y="3455765"/>
            <a:ext cx="4380195" cy="23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“VPN keeps dropping”, “can't connect from home”,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“remote access broken” — one problem, many phrasings.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Keyword bots miss it; a human re-reads the same article.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93443" y="2762317"/>
            <a:ext cx="5114954" cy="3246749"/>
            <a:chOff x="0" y="0"/>
            <a:chExt cx="6819938" cy="43289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19900" cy="4328922"/>
            </a:xfrm>
            <a:custGeom>
              <a:avLst/>
              <a:gdLst/>
              <a:ahLst/>
              <a:cxnLst/>
              <a:rect r="r" b="b" t="t" l="l"/>
              <a:pathLst>
                <a:path h="4328922" w="6819900">
                  <a:moveTo>
                    <a:pt x="0" y="259715"/>
                  </a:moveTo>
                  <a:cubicBezTo>
                    <a:pt x="0" y="116332"/>
                    <a:pt x="116332" y="0"/>
                    <a:pt x="259715" y="0"/>
                  </a:cubicBezTo>
                  <a:lnTo>
                    <a:pt x="6560185" y="0"/>
                  </a:lnTo>
                  <a:cubicBezTo>
                    <a:pt x="6703695" y="0"/>
                    <a:pt x="6819900" y="116332"/>
                    <a:pt x="6819900" y="259715"/>
                  </a:cubicBezTo>
                  <a:lnTo>
                    <a:pt x="6819900" y="4069207"/>
                  </a:lnTo>
                  <a:cubicBezTo>
                    <a:pt x="6819900" y="4212717"/>
                    <a:pt x="6703568" y="4328922"/>
                    <a:pt x="6560185" y="4328922"/>
                  </a:cubicBezTo>
                  <a:lnTo>
                    <a:pt x="259715" y="4328922"/>
                  </a:lnTo>
                  <a:cubicBezTo>
                    <a:pt x="116332" y="4329049"/>
                    <a:pt x="0" y="4212717"/>
                    <a:pt x="0" y="4069207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603930" y="2772794"/>
            <a:ext cx="102946" cy="3225784"/>
            <a:chOff x="0" y="0"/>
            <a:chExt cx="137262" cy="43010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28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60822" y="2961608"/>
            <a:ext cx="4380195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Details always missing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0822" y="3455765"/>
            <a:ext cx="4380195" cy="23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The employee says “raise a ticket” and nothing else.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 ID, no category, no description.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An agent that acts anyway creates junk.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0599" y="2762317"/>
            <a:ext cx="5114954" cy="3246749"/>
            <a:chOff x="0" y="0"/>
            <a:chExt cx="6819938" cy="43289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19900" cy="4328922"/>
            </a:xfrm>
            <a:custGeom>
              <a:avLst/>
              <a:gdLst/>
              <a:ahLst/>
              <a:cxnLst/>
              <a:rect r="r" b="b" t="t" l="l"/>
              <a:pathLst>
                <a:path h="4328922" w="6819900">
                  <a:moveTo>
                    <a:pt x="0" y="259715"/>
                  </a:moveTo>
                  <a:cubicBezTo>
                    <a:pt x="0" y="116332"/>
                    <a:pt x="116332" y="0"/>
                    <a:pt x="259715" y="0"/>
                  </a:cubicBezTo>
                  <a:lnTo>
                    <a:pt x="6560185" y="0"/>
                  </a:lnTo>
                  <a:cubicBezTo>
                    <a:pt x="6703695" y="0"/>
                    <a:pt x="6819900" y="116332"/>
                    <a:pt x="6819900" y="259715"/>
                  </a:cubicBezTo>
                  <a:lnTo>
                    <a:pt x="6819900" y="4069207"/>
                  </a:lnTo>
                  <a:cubicBezTo>
                    <a:pt x="6819900" y="4212717"/>
                    <a:pt x="6703568" y="4328922"/>
                    <a:pt x="6560185" y="4328922"/>
                  </a:cubicBezTo>
                  <a:lnTo>
                    <a:pt x="259715" y="4328922"/>
                  </a:lnTo>
                  <a:cubicBezTo>
                    <a:pt x="116332" y="4329049"/>
                    <a:pt x="0" y="4212717"/>
                    <a:pt x="0" y="4069207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041076" y="2772794"/>
            <a:ext cx="102946" cy="3225784"/>
            <a:chOff x="0" y="0"/>
            <a:chExt cx="137262" cy="43010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28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633CC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97978" y="2961608"/>
            <a:ext cx="4380195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Some actions must not be blind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7978" y="3455765"/>
            <a:ext cx="4380195" cy="23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 duplicate ticket is worse than no ticket: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it splits history and wastes a second engineer.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Writes need consent and a duplicate check.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6774" y="6410382"/>
            <a:ext cx="15968301" cy="1509941"/>
            <a:chOff x="0" y="0"/>
            <a:chExt cx="21291067" cy="20132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91042" cy="2013204"/>
            </a:xfrm>
            <a:custGeom>
              <a:avLst/>
              <a:gdLst/>
              <a:ahLst/>
              <a:cxnLst/>
              <a:rect r="r" b="b" t="t" l="l"/>
              <a:pathLst>
                <a:path h="2013204" w="21291042">
                  <a:moveTo>
                    <a:pt x="0" y="120777"/>
                  </a:moveTo>
                  <a:cubicBezTo>
                    <a:pt x="0" y="54102"/>
                    <a:pt x="54102" y="0"/>
                    <a:pt x="120777" y="0"/>
                  </a:cubicBezTo>
                  <a:lnTo>
                    <a:pt x="21170264" y="0"/>
                  </a:lnTo>
                  <a:cubicBezTo>
                    <a:pt x="21236939" y="0"/>
                    <a:pt x="21291042" y="54102"/>
                    <a:pt x="21291042" y="120777"/>
                  </a:cubicBezTo>
                  <a:lnTo>
                    <a:pt x="21291042" y="1892427"/>
                  </a:lnTo>
                  <a:cubicBezTo>
                    <a:pt x="21291042" y="1959102"/>
                    <a:pt x="21236939" y="2013204"/>
                    <a:pt x="21170264" y="2013204"/>
                  </a:cubicBezTo>
                  <a:lnTo>
                    <a:pt x="120777" y="2013204"/>
                  </a:lnTo>
                  <a:cubicBezTo>
                    <a:pt x="54102" y="2013204"/>
                    <a:pt x="0" y="1959102"/>
                    <a:pt x="0" y="1892427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47206" y="6608712"/>
            <a:ext cx="15007428" cy="77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8FA6FF"/>
                </a:solidFill>
                <a:latin typeface="Arimo Bold"/>
                <a:ea typeface="Arimo Bold"/>
                <a:cs typeface="Arimo Bold"/>
                <a:sym typeface="Arimo Bold"/>
              </a:rPr>
              <a:t>The gap</a:t>
            </a:r>
          </a:p>
          <a:p>
            <a:pPr algn="l">
              <a:lnSpc>
                <a:spcPts val="3689"/>
              </a:lnSpc>
            </a:pPr>
            <a:r>
              <a:rPr lang="en-US" sz="240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Language understanding is the easy half. The hard half is policy - knowing when to refuse to act yet.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THE PRODUCT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Three jobs, one conversation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41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Everything runs against the organisation's own data - no public internet, no invented facts.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5114954" cy="2423150"/>
            <a:chOff x="0" y="0"/>
            <a:chExt cx="6819938" cy="32308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19900" cy="3230753"/>
            </a:xfrm>
            <a:custGeom>
              <a:avLst/>
              <a:gdLst/>
              <a:ahLst/>
              <a:cxnLst/>
              <a:rect r="r" b="b" t="t" l="l"/>
              <a:pathLst>
                <a:path h="3230753" w="6819900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626098" y="0"/>
                  </a:lnTo>
                  <a:cubicBezTo>
                    <a:pt x="6733159" y="0"/>
                    <a:pt x="6819900" y="86741"/>
                    <a:pt x="6819900" y="193802"/>
                  </a:cubicBezTo>
                  <a:lnTo>
                    <a:pt x="6819900" y="3036951"/>
                  </a:lnTo>
                  <a:cubicBezTo>
                    <a:pt x="6819900" y="3144012"/>
                    <a:pt x="6733159" y="3230753"/>
                    <a:pt x="6626098" y="3230753"/>
                  </a:cubicBezTo>
                  <a:lnTo>
                    <a:pt x="193802" y="3230753"/>
                  </a:lnTo>
                  <a:cubicBezTo>
                    <a:pt x="86741" y="3230880"/>
                    <a:pt x="0" y="3144012"/>
                    <a:pt x="0" y="303695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774" y="2772794"/>
            <a:ext cx="102946" cy="2402176"/>
            <a:chOff x="0" y="0"/>
            <a:chExt cx="137262" cy="3202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28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3667" y="3047333"/>
            <a:ext cx="2059010" cy="356892"/>
            <a:chOff x="0" y="0"/>
            <a:chExt cx="2745346" cy="475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5359" cy="475869"/>
            </a:xfrm>
            <a:custGeom>
              <a:avLst/>
              <a:gdLst/>
              <a:ahLst/>
              <a:cxnLst/>
              <a:rect r="r" b="b" t="t" l="l"/>
              <a:pathLst>
                <a:path h="475869" w="2745359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lnTo>
                    <a:pt x="2716784" y="0"/>
                  </a:lnTo>
                  <a:cubicBezTo>
                    <a:pt x="2732532" y="0"/>
                    <a:pt x="2745359" y="12827"/>
                    <a:pt x="2745359" y="28575"/>
                  </a:cubicBezTo>
                  <a:lnTo>
                    <a:pt x="2745359" y="447294"/>
                  </a:lnTo>
                  <a:cubicBezTo>
                    <a:pt x="2745359" y="463042"/>
                    <a:pt x="2732532" y="475869"/>
                    <a:pt x="2716784" y="475869"/>
                  </a:cubicBezTo>
                  <a:lnTo>
                    <a:pt x="28575" y="475869"/>
                  </a:lnTo>
                  <a:cubicBezTo>
                    <a:pt x="12827" y="475869"/>
                    <a:pt x="0" y="463042"/>
                    <a:pt x="0" y="447294"/>
                  </a:cubicBezTo>
                  <a:close/>
                </a:path>
              </a:pathLst>
            </a:custGeom>
            <a:solidFill>
              <a:srgbClr val="E4F6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745346" cy="5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 b="true">
                  <a:solidFill>
                    <a:srgbClr val="0B8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23667" y="3464176"/>
            <a:ext cx="4380195" cy="57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2852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Answer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667" y="3986908"/>
            <a:ext cx="4380195" cy="99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Searches 15 IT how-to articles with BM25 and answers in plain language. No match → it says so.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93443" y="2762317"/>
            <a:ext cx="5114954" cy="2423150"/>
            <a:chOff x="0" y="0"/>
            <a:chExt cx="6819938" cy="32308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19900" cy="3230753"/>
            </a:xfrm>
            <a:custGeom>
              <a:avLst/>
              <a:gdLst/>
              <a:ahLst/>
              <a:cxnLst/>
              <a:rect r="r" b="b" t="t" l="l"/>
              <a:pathLst>
                <a:path h="3230753" w="6819900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626098" y="0"/>
                  </a:lnTo>
                  <a:cubicBezTo>
                    <a:pt x="6733159" y="0"/>
                    <a:pt x="6819900" y="86741"/>
                    <a:pt x="6819900" y="193802"/>
                  </a:cubicBezTo>
                  <a:lnTo>
                    <a:pt x="6819900" y="3036951"/>
                  </a:lnTo>
                  <a:cubicBezTo>
                    <a:pt x="6819900" y="3144012"/>
                    <a:pt x="6733159" y="3230753"/>
                    <a:pt x="6626098" y="3230753"/>
                  </a:cubicBezTo>
                  <a:lnTo>
                    <a:pt x="193802" y="3230753"/>
                  </a:lnTo>
                  <a:cubicBezTo>
                    <a:pt x="86741" y="3230880"/>
                    <a:pt x="0" y="3144012"/>
                    <a:pt x="0" y="303695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603930" y="2772794"/>
            <a:ext cx="102946" cy="2402176"/>
            <a:chOff x="0" y="0"/>
            <a:chExt cx="137262" cy="3202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28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60822" y="3047333"/>
            <a:ext cx="2059010" cy="356892"/>
            <a:chOff x="0" y="0"/>
            <a:chExt cx="2745346" cy="475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5359" cy="475869"/>
            </a:xfrm>
            <a:custGeom>
              <a:avLst/>
              <a:gdLst/>
              <a:ahLst/>
              <a:cxnLst/>
              <a:rect r="r" b="b" t="t" l="l"/>
              <a:pathLst>
                <a:path h="475869" w="2745359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lnTo>
                    <a:pt x="2716784" y="0"/>
                  </a:lnTo>
                  <a:cubicBezTo>
                    <a:pt x="2732532" y="0"/>
                    <a:pt x="2745359" y="12827"/>
                    <a:pt x="2745359" y="28575"/>
                  </a:cubicBezTo>
                  <a:lnTo>
                    <a:pt x="2745359" y="447294"/>
                  </a:lnTo>
                  <a:cubicBezTo>
                    <a:pt x="2745359" y="463042"/>
                    <a:pt x="2732532" y="475869"/>
                    <a:pt x="2716784" y="475869"/>
                  </a:cubicBezTo>
                  <a:lnTo>
                    <a:pt x="28575" y="475869"/>
                  </a:lnTo>
                  <a:cubicBezTo>
                    <a:pt x="12827" y="475869"/>
                    <a:pt x="0" y="463042"/>
                    <a:pt x="0" y="447294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745346" cy="5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60822" y="3464176"/>
            <a:ext cx="4380195" cy="57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2852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Look 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0822" y="3986908"/>
            <a:ext cx="4380195" cy="99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Finds existing tickets by employee, ID, status or keyword, and reports live service health.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30599" y="2762317"/>
            <a:ext cx="5114954" cy="2423150"/>
            <a:chOff x="0" y="0"/>
            <a:chExt cx="6819938" cy="32308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19900" cy="3230753"/>
            </a:xfrm>
            <a:custGeom>
              <a:avLst/>
              <a:gdLst/>
              <a:ahLst/>
              <a:cxnLst/>
              <a:rect r="r" b="b" t="t" l="l"/>
              <a:pathLst>
                <a:path h="3230753" w="6819900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6626098" y="0"/>
                  </a:lnTo>
                  <a:cubicBezTo>
                    <a:pt x="6733159" y="0"/>
                    <a:pt x="6819900" y="86741"/>
                    <a:pt x="6819900" y="193802"/>
                  </a:cubicBezTo>
                  <a:lnTo>
                    <a:pt x="6819900" y="3036951"/>
                  </a:lnTo>
                  <a:cubicBezTo>
                    <a:pt x="6819900" y="3144012"/>
                    <a:pt x="6733159" y="3230753"/>
                    <a:pt x="6626098" y="3230753"/>
                  </a:cubicBezTo>
                  <a:lnTo>
                    <a:pt x="193802" y="3230753"/>
                  </a:lnTo>
                  <a:cubicBezTo>
                    <a:pt x="86741" y="3230880"/>
                    <a:pt x="0" y="3144012"/>
                    <a:pt x="0" y="303695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041076" y="2772794"/>
            <a:ext cx="102946" cy="2402176"/>
            <a:chOff x="0" y="0"/>
            <a:chExt cx="137262" cy="32029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28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97978" y="3047333"/>
            <a:ext cx="2059010" cy="356892"/>
            <a:chOff x="0" y="0"/>
            <a:chExt cx="2745346" cy="475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5359" cy="475869"/>
            </a:xfrm>
            <a:custGeom>
              <a:avLst/>
              <a:gdLst/>
              <a:ahLst/>
              <a:cxnLst/>
              <a:rect r="r" b="b" t="t" l="l"/>
              <a:pathLst>
                <a:path h="475869" w="2745359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lnTo>
                    <a:pt x="2716784" y="0"/>
                  </a:lnTo>
                  <a:cubicBezTo>
                    <a:pt x="2732532" y="0"/>
                    <a:pt x="2745359" y="12827"/>
                    <a:pt x="2745359" y="28575"/>
                  </a:cubicBezTo>
                  <a:lnTo>
                    <a:pt x="2745359" y="447294"/>
                  </a:lnTo>
                  <a:cubicBezTo>
                    <a:pt x="2745359" y="463042"/>
                    <a:pt x="2732532" y="475869"/>
                    <a:pt x="2716784" y="475869"/>
                  </a:cubicBezTo>
                  <a:lnTo>
                    <a:pt x="28575" y="475869"/>
                  </a:lnTo>
                  <a:cubicBezTo>
                    <a:pt x="12827" y="475869"/>
                    <a:pt x="0" y="463042"/>
                    <a:pt x="0" y="447294"/>
                  </a:cubicBezTo>
                  <a:close/>
                </a:path>
              </a:pathLst>
            </a:custGeom>
            <a:solidFill>
              <a:srgbClr val="FDF0E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45346" cy="5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 b="true">
                  <a:solidFill>
                    <a:srgbClr val="B5540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97978" y="3464176"/>
            <a:ext cx="4380195" cy="57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2852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Raise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97978" y="3986908"/>
            <a:ext cx="4380195" cy="110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Creates a ticket - only with every required field, the employee's consent, and no open duplicate.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6774" y="551057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THE MULTI-TURN FLOW THAT PROVES IT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66774" y="6080941"/>
            <a:ext cx="15968301" cy="452980"/>
            <a:chOff x="0" y="0"/>
            <a:chExt cx="21291067" cy="6039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291042" cy="603886"/>
            </a:xfrm>
            <a:custGeom>
              <a:avLst/>
              <a:gdLst/>
              <a:ahLst/>
              <a:cxnLst/>
              <a:rect r="r" b="b" t="t" l="l"/>
              <a:pathLst>
                <a:path h="603886" w="21291042">
                  <a:moveTo>
                    <a:pt x="0" y="36195"/>
                  </a:moveTo>
                  <a:cubicBezTo>
                    <a:pt x="0" y="16256"/>
                    <a:pt x="16256" y="0"/>
                    <a:pt x="36195" y="0"/>
                  </a:cubicBezTo>
                  <a:lnTo>
                    <a:pt x="21254847" y="0"/>
                  </a:lnTo>
                  <a:cubicBezTo>
                    <a:pt x="21274912" y="0"/>
                    <a:pt x="21291042" y="16256"/>
                    <a:pt x="21291042" y="36195"/>
                  </a:cubicBezTo>
                  <a:lnTo>
                    <a:pt x="21291042" y="567690"/>
                  </a:lnTo>
                  <a:cubicBezTo>
                    <a:pt x="21291042" y="587756"/>
                    <a:pt x="21274785" y="603885"/>
                    <a:pt x="21254847" y="603885"/>
                  </a:cubicBezTo>
                  <a:lnTo>
                    <a:pt x="36195" y="603885"/>
                  </a:lnTo>
                  <a:cubicBezTo>
                    <a:pt x="16256" y="604012"/>
                    <a:pt x="0" y="587756"/>
                    <a:pt x="0" y="567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13853" y="6080236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747E93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45343" y="6063844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I have a VPN issue.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56287" y="6592072"/>
            <a:ext cx="15989265" cy="473954"/>
            <a:chOff x="0" y="0"/>
            <a:chExt cx="21319020" cy="6319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19110" cy="631952"/>
            </a:xfrm>
            <a:custGeom>
              <a:avLst/>
              <a:gdLst/>
              <a:ahLst/>
              <a:cxnLst/>
              <a:rect r="r" b="b" t="t" l="l"/>
              <a:pathLst>
                <a:path h="631952" w="2131911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21281137" y="0"/>
                  </a:lnTo>
                  <a:cubicBezTo>
                    <a:pt x="21302092" y="0"/>
                    <a:pt x="21319110" y="17018"/>
                    <a:pt x="21319110" y="37973"/>
                  </a:cubicBezTo>
                  <a:lnTo>
                    <a:pt x="21319110" y="593979"/>
                  </a:lnTo>
                  <a:cubicBezTo>
                    <a:pt x="21319110" y="614934"/>
                    <a:pt x="21302092" y="631952"/>
                    <a:pt x="21281137" y="631952"/>
                  </a:cubicBezTo>
                  <a:lnTo>
                    <a:pt x="37973" y="631952"/>
                  </a:lnTo>
                  <a:cubicBezTo>
                    <a:pt x="17018" y="631952"/>
                    <a:pt x="0" y="614934"/>
                    <a:pt x="0" y="593979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413853" y="6601854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Assistant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45343" y="6585461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Known degradation on the EMEA VPN gateway. What is your employee ID?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458359" y="6664328"/>
            <a:ext cx="2402176" cy="329441"/>
            <a:chOff x="0" y="0"/>
            <a:chExt cx="3202902" cy="4392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02940" cy="439293"/>
            </a:xfrm>
            <a:custGeom>
              <a:avLst/>
              <a:gdLst/>
              <a:ahLst/>
              <a:cxnLst/>
              <a:rect r="r" b="b" t="t" l="l"/>
              <a:pathLst>
                <a:path h="439293" w="320294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3176524" y="0"/>
                  </a:lnTo>
                  <a:cubicBezTo>
                    <a:pt x="3191129" y="0"/>
                    <a:pt x="3202940" y="11811"/>
                    <a:pt x="3202940" y="26416"/>
                  </a:cubicBezTo>
                  <a:lnTo>
                    <a:pt x="3202940" y="412877"/>
                  </a:lnTo>
                  <a:cubicBezTo>
                    <a:pt x="3202940" y="427482"/>
                    <a:pt x="3191129" y="439293"/>
                    <a:pt x="3176524" y="439293"/>
                  </a:cubicBezTo>
                  <a:lnTo>
                    <a:pt x="26416" y="439293"/>
                  </a:lnTo>
                  <a:cubicBezTo>
                    <a:pt x="11811" y="439293"/>
                    <a:pt x="0" y="427482"/>
                    <a:pt x="0" y="412877"/>
                  </a:cubicBezTo>
                  <a:close/>
                </a:path>
              </a:pathLst>
            </a:custGeom>
            <a:solidFill>
              <a:srgbClr val="E4F6E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202902" cy="467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>
                  <a:solidFill>
                    <a:srgbClr val="0B8A5F"/>
                  </a:solidFill>
                  <a:latin typeface="Arimo"/>
                  <a:ea typeface="Arimo"/>
                  <a:cs typeface="Arimo"/>
                  <a:sym typeface="Arimo"/>
                </a:rPr>
                <a:t>system_status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6774" y="7124167"/>
            <a:ext cx="15968301" cy="452980"/>
            <a:chOff x="0" y="0"/>
            <a:chExt cx="21291067" cy="6039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91042" cy="603886"/>
            </a:xfrm>
            <a:custGeom>
              <a:avLst/>
              <a:gdLst/>
              <a:ahLst/>
              <a:cxnLst/>
              <a:rect r="r" b="b" t="t" l="l"/>
              <a:pathLst>
                <a:path h="603886" w="21291042">
                  <a:moveTo>
                    <a:pt x="0" y="36195"/>
                  </a:moveTo>
                  <a:cubicBezTo>
                    <a:pt x="0" y="16256"/>
                    <a:pt x="16256" y="0"/>
                    <a:pt x="36195" y="0"/>
                  </a:cubicBezTo>
                  <a:lnTo>
                    <a:pt x="21254847" y="0"/>
                  </a:lnTo>
                  <a:cubicBezTo>
                    <a:pt x="21274912" y="0"/>
                    <a:pt x="21291042" y="16256"/>
                    <a:pt x="21291042" y="36195"/>
                  </a:cubicBezTo>
                  <a:lnTo>
                    <a:pt x="21291042" y="567690"/>
                  </a:lnTo>
                  <a:cubicBezTo>
                    <a:pt x="21291042" y="587756"/>
                    <a:pt x="21274785" y="603885"/>
                    <a:pt x="21254847" y="603885"/>
                  </a:cubicBezTo>
                  <a:lnTo>
                    <a:pt x="36195" y="603885"/>
                  </a:lnTo>
                  <a:cubicBezTo>
                    <a:pt x="16256" y="604012"/>
                    <a:pt x="0" y="587756"/>
                    <a:pt x="0" y="567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413853" y="7123471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747E93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745343" y="7107079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EMP1024.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56287" y="7635297"/>
            <a:ext cx="15989265" cy="473954"/>
            <a:chOff x="0" y="0"/>
            <a:chExt cx="21319020" cy="6319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319110" cy="631952"/>
            </a:xfrm>
            <a:custGeom>
              <a:avLst/>
              <a:gdLst/>
              <a:ahLst/>
              <a:cxnLst/>
              <a:rect r="r" b="b" t="t" l="l"/>
              <a:pathLst>
                <a:path h="631952" w="2131911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21281137" y="0"/>
                  </a:lnTo>
                  <a:cubicBezTo>
                    <a:pt x="21302092" y="0"/>
                    <a:pt x="21319110" y="17018"/>
                    <a:pt x="21319110" y="37973"/>
                  </a:cubicBezTo>
                  <a:lnTo>
                    <a:pt x="21319110" y="593979"/>
                  </a:lnTo>
                  <a:cubicBezTo>
                    <a:pt x="21319110" y="614934"/>
                    <a:pt x="21302092" y="631952"/>
                    <a:pt x="21281137" y="631952"/>
                  </a:cubicBezTo>
                  <a:lnTo>
                    <a:pt x="37973" y="631952"/>
                  </a:lnTo>
                  <a:cubicBezTo>
                    <a:pt x="17018" y="631952"/>
                    <a:pt x="0" y="614934"/>
                    <a:pt x="0" y="593979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413853" y="7645079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Assistant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745343" y="7628696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Found you, Priya Sharma (Finance, Bengaluru). Check your open tickets?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458359" y="7707554"/>
            <a:ext cx="2402176" cy="329441"/>
            <a:chOff x="0" y="0"/>
            <a:chExt cx="3202902" cy="4392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02940" cy="439293"/>
            </a:xfrm>
            <a:custGeom>
              <a:avLst/>
              <a:gdLst/>
              <a:ahLst/>
              <a:cxnLst/>
              <a:rect r="r" b="b" t="t" l="l"/>
              <a:pathLst>
                <a:path h="439293" w="320294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3176524" y="0"/>
                  </a:lnTo>
                  <a:cubicBezTo>
                    <a:pt x="3191129" y="0"/>
                    <a:pt x="3202940" y="11811"/>
                    <a:pt x="3202940" y="26416"/>
                  </a:cubicBezTo>
                  <a:lnTo>
                    <a:pt x="3202940" y="412877"/>
                  </a:lnTo>
                  <a:cubicBezTo>
                    <a:pt x="3202940" y="427482"/>
                    <a:pt x="3191129" y="439293"/>
                    <a:pt x="3176524" y="439293"/>
                  </a:cubicBezTo>
                  <a:lnTo>
                    <a:pt x="26416" y="439293"/>
                  </a:lnTo>
                  <a:cubicBezTo>
                    <a:pt x="11811" y="439293"/>
                    <a:pt x="0" y="427482"/>
                    <a:pt x="0" y="412877"/>
                  </a:cubicBezTo>
                  <a:close/>
                </a:path>
              </a:pathLst>
            </a:custGeom>
            <a:solidFill>
              <a:srgbClr val="E4F6E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3202902" cy="467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>
                  <a:solidFill>
                    <a:srgbClr val="0B8A5F"/>
                  </a:solidFill>
                  <a:latin typeface="Arimo"/>
                  <a:ea typeface="Arimo"/>
                  <a:cs typeface="Arimo"/>
                  <a:sym typeface="Arimo"/>
                </a:rPr>
                <a:t>get_employee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66774" y="8167402"/>
            <a:ext cx="15968301" cy="452980"/>
            <a:chOff x="0" y="0"/>
            <a:chExt cx="21291067" cy="60397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291042" cy="603886"/>
            </a:xfrm>
            <a:custGeom>
              <a:avLst/>
              <a:gdLst/>
              <a:ahLst/>
              <a:cxnLst/>
              <a:rect r="r" b="b" t="t" l="l"/>
              <a:pathLst>
                <a:path h="603886" w="21291042">
                  <a:moveTo>
                    <a:pt x="0" y="36195"/>
                  </a:moveTo>
                  <a:cubicBezTo>
                    <a:pt x="0" y="16256"/>
                    <a:pt x="16256" y="0"/>
                    <a:pt x="36195" y="0"/>
                  </a:cubicBezTo>
                  <a:lnTo>
                    <a:pt x="21254847" y="0"/>
                  </a:lnTo>
                  <a:cubicBezTo>
                    <a:pt x="21274912" y="0"/>
                    <a:pt x="21291042" y="16256"/>
                    <a:pt x="21291042" y="36195"/>
                  </a:cubicBezTo>
                  <a:lnTo>
                    <a:pt x="21291042" y="567690"/>
                  </a:lnTo>
                  <a:cubicBezTo>
                    <a:pt x="21291042" y="587756"/>
                    <a:pt x="21274785" y="603885"/>
                    <a:pt x="21254847" y="603885"/>
                  </a:cubicBezTo>
                  <a:lnTo>
                    <a:pt x="36195" y="603885"/>
                  </a:lnTo>
                  <a:cubicBezTo>
                    <a:pt x="16256" y="604012"/>
                    <a:pt x="0" y="587756"/>
                    <a:pt x="0" y="567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413853" y="8166697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747E93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745343" y="8150314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Yes.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56287" y="8678532"/>
            <a:ext cx="15989265" cy="473954"/>
            <a:chOff x="0" y="0"/>
            <a:chExt cx="21319020" cy="6319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319110" cy="631952"/>
            </a:xfrm>
            <a:custGeom>
              <a:avLst/>
              <a:gdLst/>
              <a:ahLst/>
              <a:cxnLst/>
              <a:rect r="r" b="b" t="t" l="l"/>
              <a:pathLst>
                <a:path h="631952" w="2131911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21281137" y="0"/>
                  </a:lnTo>
                  <a:cubicBezTo>
                    <a:pt x="21302092" y="0"/>
                    <a:pt x="21319110" y="17018"/>
                    <a:pt x="21319110" y="37973"/>
                  </a:cubicBezTo>
                  <a:lnTo>
                    <a:pt x="21319110" y="593979"/>
                  </a:lnTo>
                  <a:cubicBezTo>
                    <a:pt x="21319110" y="614934"/>
                    <a:pt x="21302092" y="631952"/>
                    <a:pt x="21281137" y="631952"/>
                  </a:cubicBezTo>
                  <a:lnTo>
                    <a:pt x="37973" y="631952"/>
                  </a:lnTo>
                  <a:cubicBezTo>
                    <a:pt x="17018" y="631952"/>
                    <a:pt x="0" y="614934"/>
                    <a:pt x="0" y="593979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413853" y="8688314"/>
            <a:ext cx="1372676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Assistant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745343" y="8671922"/>
            <a:ext cx="10981382" cy="42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You have INC-10001 (In Progress) for VPN drops.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4458359" y="8750789"/>
            <a:ext cx="2402176" cy="329441"/>
            <a:chOff x="0" y="0"/>
            <a:chExt cx="3202902" cy="43925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02940" cy="439293"/>
            </a:xfrm>
            <a:custGeom>
              <a:avLst/>
              <a:gdLst/>
              <a:ahLst/>
              <a:cxnLst/>
              <a:rect r="r" b="b" t="t" l="l"/>
              <a:pathLst>
                <a:path h="439293" w="320294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3176524" y="0"/>
                  </a:lnTo>
                  <a:cubicBezTo>
                    <a:pt x="3191129" y="0"/>
                    <a:pt x="3202940" y="11811"/>
                    <a:pt x="3202940" y="26416"/>
                  </a:cubicBezTo>
                  <a:lnTo>
                    <a:pt x="3202940" y="412877"/>
                  </a:lnTo>
                  <a:cubicBezTo>
                    <a:pt x="3202940" y="427482"/>
                    <a:pt x="3191129" y="439293"/>
                    <a:pt x="3176524" y="439293"/>
                  </a:cubicBezTo>
                  <a:lnTo>
                    <a:pt x="26416" y="439293"/>
                  </a:lnTo>
                  <a:cubicBezTo>
                    <a:pt x="11811" y="439293"/>
                    <a:pt x="0" y="427482"/>
                    <a:pt x="0" y="412877"/>
                  </a:cubicBezTo>
                  <a:close/>
                </a:path>
              </a:pathLst>
            </a:custGeom>
            <a:solidFill>
              <a:srgbClr val="E4F6E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3202902" cy="467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2"/>
                </a:lnSpc>
              </a:pPr>
              <a:r>
                <a:rPr lang="en-US" sz="1426">
                  <a:solidFill>
                    <a:srgbClr val="0B8A5F"/>
                  </a:solidFill>
                  <a:latin typeface="Arimo"/>
                  <a:ea typeface="Arimo"/>
                  <a:cs typeface="Arimo"/>
                  <a:sym typeface="Arimo"/>
                </a:rPr>
                <a:t>ticket_lookup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THE IDEA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The model decides. The workflow enforces.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An LLM picks the intent and the wording. A graph around it holds the rules the model cannot be trusted to hold.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7730585" cy="3452651"/>
            <a:chOff x="0" y="0"/>
            <a:chExt cx="10307447" cy="4603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07447" cy="4603496"/>
            </a:xfrm>
            <a:custGeom>
              <a:avLst/>
              <a:gdLst/>
              <a:ahLst/>
              <a:cxnLst/>
              <a:rect r="r" b="b" t="t" l="l"/>
              <a:pathLst>
                <a:path h="4603496" w="10307447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10031222" y="0"/>
                  </a:lnTo>
                  <a:cubicBezTo>
                    <a:pt x="10183749" y="0"/>
                    <a:pt x="10307447" y="123698"/>
                    <a:pt x="10307447" y="276225"/>
                  </a:cubicBezTo>
                  <a:lnTo>
                    <a:pt x="10307447" y="4327271"/>
                  </a:lnTo>
                  <a:cubicBezTo>
                    <a:pt x="10307447" y="4479798"/>
                    <a:pt x="10183749" y="4603496"/>
                    <a:pt x="10031222" y="4603496"/>
                  </a:cubicBezTo>
                  <a:lnTo>
                    <a:pt x="276225" y="4603496"/>
                  </a:lnTo>
                  <a:cubicBezTo>
                    <a:pt x="123698" y="4603496"/>
                    <a:pt x="0" y="4479925"/>
                    <a:pt x="0" y="43272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774" y="2772794"/>
            <a:ext cx="7709611" cy="102946"/>
            <a:chOff x="0" y="0"/>
            <a:chExt cx="10279482" cy="137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9507" cy="137287"/>
            </a:xfrm>
            <a:custGeom>
              <a:avLst/>
              <a:gdLst/>
              <a:ahLst/>
              <a:cxnLst/>
              <a:rect r="r" b="b" t="t" l="l"/>
              <a:pathLst>
                <a:path h="137287" w="10279507">
                  <a:moveTo>
                    <a:pt x="0" y="0"/>
                  </a:moveTo>
                  <a:lnTo>
                    <a:pt x="10279507" y="0"/>
                  </a:lnTo>
                  <a:lnTo>
                    <a:pt x="10279507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8569" y="3089348"/>
            <a:ext cx="6886013" cy="5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5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Trusted to the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8569" y="3767280"/>
            <a:ext cx="6886013" cy="227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Reading the request in any phrasing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Choosing which tool fits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Writing the answer a human reads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14967" y="2762317"/>
            <a:ext cx="7730585" cy="3452651"/>
            <a:chOff x="0" y="0"/>
            <a:chExt cx="10307447" cy="46035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07447" cy="4603496"/>
            </a:xfrm>
            <a:custGeom>
              <a:avLst/>
              <a:gdLst/>
              <a:ahLst/>
              <a:cxnLst/>
              <a:rect r="r" b="b" t="t" l="l"/>
              <a:pathLst>
                <a:path h="4603496" w="10307447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10031222" y="0"/>
                  </a:lnTo>
                  <a:cubicBezTo>
                    <a:pt x="10183749" y="0"/>
                    <a:pt x="10307447" y="123698"/>
                    <a:pt x="10307447" y="276225"/>
                  </a:cubicBezTo>
                  <a:lnTo>
                    <a:pt x="10307447" y="4327271"/>
                  </a:lnTo>
                  <a:cubicBezTo>
                    <a:pt x="10307447" y="4479798"/>
                    <a:pt x="10183749" y="4603496"/>
                    <a:pt x="10031222" y="4603496"/>
                  </a:cubicBezTo>
                  <a:lnTo>
                    <a:pt x="276225" y="4603496"/>
                  </a:lnTo>
                  <a:cubicBezTo>
                    <a:pt x="123698" y="4603496"/>
                    <a:pt x="0" y="4479925"/>
                    <a:pt x="0" y="43272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425454" y="2772794"/>
            <a:ext cx="7709611" cy="102946"/>
            <a:chOff x="0" y="0"/>
            <a:chExt cx="10279482" cy="1372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79507" cy="137287"/>
            </a:xfrm>
            <a:custGeom>
              <a:avLst/>
              <a:gdLst/>
              <a:ahLst/>
              <a:cxnLst/>
              <a:rect r="r" b="b" t="t" l="l"/>
              <a:pathLst>
                <a:path h="137287" w="10279507">
                  <a:moveTo>
                    <a:pt x="0" y="0"/>
                  </a:moveTo>
                  <a:lnTo>
                    <a:pt x="10279507" y="0"/>
                  </a:lnTo>
                  <a:lnTo>
                    <a:pt x="10279507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7258" y="3089348"/>
            <a:ext cx="6886013" cy="5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5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Taken away from the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7258" y="3767280"/>
            <a:ext cx="6886013" cy="227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Whether a write is allowed to run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Extracting the employee ID (regex)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Detecting a duplicate ticket (SQL)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Confirmation detection, input limits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6774" y="6540084"/>
            <a:ext cx="5093989" cy="13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0B8A5F"/>
                </a:solidFill>
                <a:latin typeface="Arimo Bold"/>
                <a:ea typeface="Arimo Bold"/>
                <a:cs typeface="Arimo Bold"/>
                <a:sym typeface="Arimo Bold"/>
              </a:rPr>
              <a:t>Reads run freely</a:t>
            </a:r>
          </a:p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Knowledge, tickets, employees, status execute the moment the model asks.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3930" y="6540084"/>
            <a:ext cx="5093989" cy="105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B55409"/>
                </a:solidFill>
                <a:latin typeface="Arimo Bold"/>
                <a:ea typeface="Arimo Bold"/>
                <a:cs typeface="Arimo Bold"/>
                <a:sym typeface="Arimo Bold"/>
              </a:rPr>
              <a:t>The one write is gated</a:t>
            </a:r>
          </a:p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create_ticket is intercepted every time - clarify if incomplete, confirm if unapproved.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41076" y="6540084"/>
            <a:ext cx="5093989" cy="13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Nothing is unexplained</a:t>
            </a:r>
          </a:p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Every tool call and its raw result is shown, so facts are separable from phrasing.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The LangGraph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Six nodes. One conditional edge does all the policy work.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774" y="9514580"/>
            <a:ext cx="15968301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src/it_support/graph.py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6774" y="4557274"/>
            <a:ext cx="1372676" cy="754971"/>
            <a:chOff x="0" y="0"/>
            <a:chExt cx="1830235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324" cy="1006729"/>
            </a:xfrm>
            <a:custGeom>
              <a:avLst/>
              <a:gdLst/>
              <a:ahLst/>
              <a:cxnLst/>
              <a:rect r="r" b="b" t="t" l="l"/>
              <a:pathLst>
                <a:path h="1006729" w="1830324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lnTo>
                    <a:pt x="1769872" y="0"/>
                  </a:lnTo>
                  <a:cubicBezTo>
                    <a:pt x="1803273" y="0"/>
                    <a:pt x="1830324" y="27051"/>
                    <a:pt x="1830324" y="60452"/>
                  </a:cubicBezTo>
                  <a:lnTo>
                    <a:pt x="1830324" y="946277"/>
                  </a:lnTo>
                  <a:cubicBezTo>
                    <a:pt x="1830324" y="979678"/>
                    <a:pt x="1803273" y="1006729"/>
                    <a:pt x="1769872" y="1006729"/>
                  </a:cubicBezTo>
                  <a:lnTo>
                    <a:pt x="60452" y="1006729"/>
                  </a:lnTo>
                  <a:cubicBezTo>
                    <a:pt x="27051" y="1006602"/>
                    <a:pt x="0" y="979551"/>
                    <a:pt x="0" y="946277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0235" cy="1044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9"/>
                </a:lnSpc>
              </a:pPr>
              <a:r>
                <a:rPr lang="en-US" sz="16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09395" y="4409523"/>
            <a:ext cx="2560415" cy="1091660"/>
            <a:chOff x="0" y="0"/>
            <a:chExt cx="3413887" cy="14555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3887" cy="1455547"/>
            </a:xfrm>
            <a:custGeom>
              <a:avLst/>
              <a:gdLst/>
              <a:ahLst/>
              <a:cxnLst/>
              <a:rect r="r" b="b" t="t" l="l"/>
              <a:pathLst>
                <a:path h="1455547" w="3413887">
                  <a:moveTo>
                    <a:pt x="0" y="87376"/>
                  </a:moveTo>
                  <a:cubicBezTo>
                    <a:pt x="0" y="39116"/>
                    <a:pt x="39116" y="0"/>
                    <a:pt x="87376" y="0"/>
                  </a:cubicBezTo>
                  <a:lnTo>
                    <a:pt x="3326511" y="0"/>
                  </a:lnTo>
                  <a:cubicBezTo>
                    <a:pt x="3374771" y="0"/>
                    <a:pt x="3413887" y="39116"/>
                    <a:pt x="3413887" y="87376"/>
                  </a:cubicBezTo>
                  <a:lnTo>
                    <a:pt x="3413887" y="1368171"/>
                  </a:lnTo>
                  <a:cubicBezTo>
                    <a:pt x="3413887" y="1416431"/>
                    <a:pt x="3374771" y="1455547"/>
                    <a:pt x="3326511" y="1455547"/>
                  </a:cubicBezTo>
                  <a:lnTo>
                    <a:pt x="87376" y="1455547"/>
                  </a:lnTo>
                  <a:cubicBezTo>
                    <a:pt x="39116" y="1455547"/>
                    <a:pt x="0" y="1416431"/>
                    <a:pt x="0" y="13681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47526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13887" cy="149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11182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validate</a:t>
              </a:r>
            </a:p>
            <a:p>
              <a:pPr algn="ctr">
                <a:lnSpc>
                  <a:spcPts val="2179"/>
                </a:lnSpc>
              </a:pPr>
              <a:r>
                <a:rPr lang="en-US" sz="1651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no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22410" y="4388930"/>
            <a:ext cx="2560415" cy="1091660"/>
            <a:chOff x="0" y="0"/>
            <a:chExt cx="3413887" cy="14555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887" cy="1455547"/>
            </a:xfrm>
            <a:custGeom>
              <a:avLst/>
              <a:gdLst/>
              <a:ahLst/>
              <a:cxnLst/>
              <a:rect r="r" b="b" t="t" l="l"/>
              <a:pathLst>
                <a:path h="1455547" w="3413887">
                  <a:moveTo>
                    <a:pt x="0" y="87376"/>
                  </a:moveTo>
                  <a:cubicBezTo>
                    <a:pt x="0" y="39116"/>
                    <a:pt x="39116" y="0"/>
                    <a:pt x="87376" y="0"/>
                  </a:cubicBezTo>
                  <a:lnTo>
                    <a:pt x="3326511" y="0"/>
                  </a:lnTo>
                  <a:cubicBezTo>
                    <a:pt x="3374771" y="0"/>
                    <a:pt x="3413887" y="39116"/>
                    <a:pt x="3413887" y="87376"/>
                  </a:cubicBezTo>
                  <a:lnTo>
                    <a:pt x="3413887" y="1368171"/>
                  </a:lnTo>
                  <a:cubicBezTo>
                    <a:pt x="3413887" y="1416431"/>
                    <a:pt x="3374771" y="1455547"/>
                    <a:pt x="3326511" y="1455547"/>
                  </a:cubicBezTo>
                  <a:lnTo>
                    <a:pt x="87376" y="1455547"/>
                  </a:lnTo>
                  <a:cubicBezTo>
                    <a:pt x="39116" y="1455547"/>
                    <a:pt x="0" y="1416431"/>
                    <a:pt x="0" y="1368171"/>
                  </a:cubicBezTo>
                  <a:close/>
                </a:path>
              </a:pathLst>
            </a:custGeom>
            <a:solidFill>
              <a:srgbClr val="E8EDFD"/>
            </a:solidFill>
            <a:ln w="20971" cap="sq">
              <a:solidFill>
                <a:srgbClr val="2B4AC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413887" cy="149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agent</a:t>
              </a:r>
            </a:p>
            <a:p>
              <a:pPr algn="ctr">
                <a:lnSpc>
                  <a:spcPts val="2179"/>
                </a:lnSpc>
              </a:pPr>
              <a:r>
                <a:rPr lang="en-US" sz="1651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LLM + 5 tools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87673" y="3163634"/>
            <a:ext cx="2079984" cy="1393641"/>
            <a:chOff x="0" y="0"/>
            <a:chExt cx="2773312" cy="18581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73299" cy="1858137"/>
            </a:xfrm>
            <a:custGeom>
              <a:avLst/>
              <a:gdLst/>
              <a:ahLst/>
              <a:cxnLst/>
              <a:rect r="r" b="b" t="t" l="l"/>
              <a:pathLst>
                <a:path h="1858137" w="2773299">
                  <a:moveTo>
                    <a:pt x="0" y="929132"/>
                  </a:moveTo>
                  <a:lnTo>
                    <a:pt x="1386713" y="0"/>
                  </a:lnTo>
                  <a:lnTo>
                    <a:pt x="2773299" y="929132"/>
                  </a:lnTo>
                  <a:lnTo>
                    <a:pt x="1386713" y="1858137"/>
                  </a:ln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47526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773312" cy="1896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8"/>
                </a:lnSpc>
              </a:pPr>
              <a:r>
                <a:rPr lang="en-US" sz="1726" b="true">
                  <a:solidFill>
                    <a:srgbClr val="47526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route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94493" y="3045333"/>
            <a:ext cx="2697680" cy="1009298"/>
            <a:chOff x="0" y="0"/>
            <a:chExt cx="3596907" cy="13457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6894" cy="1345692"/>
            </a:xfrm>
            <a:custGeom>
              <a:avLst/>
              <a:gdLst/>
              <a:ahLst/>
              <a:cxnLst/>
              <a:rect r="r" b="b" t="t" l="l"/>
              <a:pathLst>
                <a:path h="1345692" w="359689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3516122" y="0"/>
                  </a:lnTo>
                  <a:cubicBezTo>
                    <a:pt x="3560699" y="0"/>
                    <a:pt x="3596894" y="36195"/>
                    <a:pt x="3596894" y="80772"/>
                  </a:cubicBezTo>
                  <a:lnTo>
                    <a:pt x="3596894" y="1264920"/>
                  </a:lnTo>
                  <a:cubicBezTo>
                    <a:pt x="3596894" y="1309497"/>
                    <a:pt x="3560699" y="1345692"/>
                    <a:pt x="3516122" y="1345692"/>
                  </a:cubicBezTo>
                  <a:lnTo>
                    <a:pt x="80772" y="1345692"/>
                  </a:lnTo>
                  <a:cubicBezTo>
                    <a:pt x="36195" y="1345692"/>
                    <a:pt x="0" y="1309624"/>
                    <a:pt x="0" y="1264920"/>
                  </a:cubicBezTo>
                  <a:close/>
                </a:path>
              </a:pathLst>
            </a:custGeom>
            <a:solidFill>
              <a:srgbClr val="E4F6EF"/>
            </a:solidFill>
            <a:ln w="20971" cap="sq">
              <a:solidFill>
                <a:srgbClr val="0B8A5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596907" cy="1393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6"/>
                </a:lnSpc>
              </a:pPr>
              <a:r>
                <a:rPr lang="en-US" sz="1876" b="true">
                  <a:solidFill>
                    <a:srgbClr val="0B8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tools</a:t>
              </a:r>
            </a:p>
            <a:p>
              <a:pPr algn="ctr">
                <a:lnSpc>
                  <a:spcPts val="2080"/>
                </a:lnSpc>
              </a:pPr>
              <a:r>
                <a:rPr lang="en-US" sz="1576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execute + record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94493" y="4711503"/>
            <a:ext cx="2697680" cy="1009298"/>
            <a:chOff x="0" y="0"/>
            <a:chExt cx="3596907" cy="13457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6894" cy="1345692"/>
            </a:xfrm>
            <a:custGeom>
              <a:avLst/>
              <a:gdLst/>
              <a:ahLst/>
              <a:cxnLst/>
              <a:rect r="r" b="b" t="t" l="l"/>
              <a:pathLst>
                <a:path h="1345692" w="359689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3516122" y="0"/>
                  </a:lnTo>
                  <a:cubicBezTo>
                    <a:pt x="3560699" y="0"/>
                    <a:pt x="3596894" y="36195"/>
                    <a:pt x="3596894" y="80772"/>
                  </a:cubicBezTo>
                  <a:lnTo>
                    <a:pt x="3596894" y="1264920"/>
                  </a:lnTo>
                  <a:cubicBezTo>
                    <a:pt x="3596894" y="1309497"/>
                    <a:pt x="3560699" y="1345692"/>
                    <a:pt x="3516122" y="1345692"/>
                  </a:cubicBezTo>
                  <a:lnTo>
                    <a:pt x="80772" y="1345692"/>
                  </a:lnTo>
                  <a:cubicBezTo>
                    <a:pt x="36195" y="1345692"/>
                    <a:pt x="0" y="1309624"/>
                    <a:pt x="0" y="1264920"/>
                  </a:cubicBezTo>
                  <a:close/>
                </a:path>
              </a:pathLst>
            </a:custGeom>
            <a:solidFill>
              <a:srgbClr val="FDF0E3"/>
            </a:solidFill>
            <a:ln w="20971" cap="sq">
              <a:solidFill>
                <a:srgbClr val="B5540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596907" cy="1393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6"/>
                </a:lnSpc>
              </a:pPr>
              <a:r>
                <a:rPr lang="en-US" sz="1876" b="true">
                  <a:solidFill>
                    <a:srgbClr val="B5540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clarify</a:t>
              </a:r>
            </a:p>
            <a:p>
              <a:pPr algn="ctr">
                <a:lnSpc>
                  <a:spcPts val="2080"/>
                </a:lnSpc>
              </a:pPr>
              <a:r>
                <a:rPr lang="en-US" sz="1576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name what's missing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94493" y="5974366"/>
            <a:ext cx="2697680" cy="1009298"/>
            <a:chOff x="0" y="0"/>
            <a:chExt cx="3596907" cy="13457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96894" cy="1345692"/>
            </a:xfrm>
            <a:custGeom>
              <a:avLst/>
              <a:gdLst/>
              <a:ahLst/>
              <a:cxnLst/>
              <a:rect r="r" b="b" t="t" l="l"/>
              <a:pathLst>
                <a:path h="1345692" w="359689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3516122" y="0"/>
                  </a:lnTo>
                  <a:cubicBezTo>
                    <a:pt x="3560699" y="0"/>
                    <a:pt x="3596894" y="36195"/>
                    <a:pt x="3596894" y="80772"/>
                  </a:cubicBezTo>
                  <a:lnTo>
                    <a:pt x="3596894" y="1264920"/>
                  </a:lnTo>
                  <a:cubicBezTo>
                    <a:pt x="3596894" y="1309497"/>
                    <a:pt x="3560699" y="1345692"/>
                    <a:pt x="3516122" y="1345692"/>
                  </a:cubicBezTo>
                  <a:lnTo>
                    <a:pt x="80772" y="1345692"/>
                  </a:lnTo>
                  <a:cubicBezTo>
                    <a:pt x="36195" y="1345692"/>
                    <a:pt x="0" y="1309624"/>
                    <a:pt x="0" y="1264920"/>
                  </a:cubicBezTo>
                  <a:close/>
                </a:path>
              </a:pathLst>
            </a:custGeom>
            <a:solidFill>
              <a:srgbClr val="F0EBFD"/>
            </a:solidFill>
            <a:ln w="20971" cap="sq">
              <a:solidFill>
                <a:srgbClr val="633CC4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596907" cy="1393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6"/>
                </a:lnSpc>
              </a:pPr>
              <a:r>
                <a:rPr lang="en-US" sz="1876" b="true">
                  <a:solidFill>
                    <a:srgbClr val="633CC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confirm</a:t>
              </a:r>
            </a:p>
            <a:p>
              <a:pPr algn="ctr">
                <a:lnSpc>
                  <a:spcPts val="2080"/>
                </a:lnSpc>
              </a:pPr>
              <a:r>
                <a:rPr lang="en-US" sz="1576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hold, ask consent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94493" y="7235741"/>
            <a:ext cx="2697680" cy="1009298"/>
            <a:chOff x="0" y="0"/>
            <a:chExt cx="3596907" cy="13457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96894" cy="1345692"/>
            </a:xfrm>
            <a:custGeom>
              <a:avLst/>
              <a:gdLst/>
              <a:ahLst/>
              <a:cxnLst/>
              <a:rect r="r" b="b" t="t" l="l"/>
              <a:pathLst>
                <a:path h="1345692" w="359689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3516122" y="0"/>
                  </a:lnTo>
                  <a:cubicBezTo>
                    <a:pt x="3560699" y="0"/>
                    <a:pt x="3596894" y="36195"/>
                    <a:pt x="3596894" y="80772"/>
                  </a:cubicBezTo>
                  <a:lnTo>
                    <a:pt x="3596894" y="1264920"/>
                  </a:lnTo>
                  <a:cubicBezTo>
                    <a:pt x="3596894" y="1309497"/>
                    <a:pt x="3560699" y="1345692"/>
                    <a:pt x="3516122" y="1345692"/>
                  </a:cubicBezTo>
                  <a:lnTo>
                    <a:pt x="80772" y="1345692"/>
                  </a:lnTo>
                  <a:cubicBezTo>
                    <a:pt x="36195" y="1345692"/>
                    <a:pt x="0" y="1309624"/>
                    <a:pt x="0" y="1264920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111827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596907" cy="1393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6"/>
                </a:lnSpc>
              </a:pPr>
              <a:r>
                <a:rPr lang="en-US" sz="1876" b="true">
                  <a:solidFill>
                    <a:srgbClr val="11182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respond</a:t>
              </a:r>
            </a:p>
            <a:p>
              <a:pPr algn="ctr">
                <a:lnSpc>
                  <a:spcPts val="2080"/>
                </a:lnSpc>
              </a:pPr>
              <a:r>
                <a:rPr lang="en-US" sz="1576">
                  <a:solidFill>
                    <a:srgbClr val="747E93"/>
                  </a:solidFill>
                  <a:latin typeface="Arimo"/>
                  <a:ea typeface="Arimo"/>
                  <a:cs typeface="Arimo"/>
                  <a:sym typeface="Arimo"/>
                </a:rPr>
                <a:t>single exit point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311462" y="7364382"/>
            <a:ext cx="1372676" cy="754971"/>
            <a:chOff x="0" y="0"/>
            <a:chExt cx="1830235" cy="10066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30324" cy="1006729"/>
            </a:xfrm>
            <a:custGeom>
              <a:avLst/>
              <a:gdLst/>
              <a:ahLst/>
              <a:cxnLst/>
              <a:rect r="r" b="b" t="t" l="l"/>
              <a:pathLst>
                <a:path h="1006729" w="1830324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lnTo>
                    <a:pt x="1769872" y="0"/>
                  </a:lnTo>
                  <a:cubicBezTo>
                    <a:pt x="1803273" y="0"/>
                    <a:pt x="1830324" y="27051"/>
                    <a:pt x="1830324" y="60452"/>
                  </a:cubicBezTo>
                  <a:lnTo>
                    <a:pt x="1830324" y="946277"/>
                  </a:lnTo>
                  <a:cubicBezTo>
                    <a:pt x="1830324" y="979678"/>
                    <a:pt x="1803273" y="1006729"/>
                    <a:pt x="1769872" y="1006729"/>
                  </a:cubicBezTo>
                  <a:lnTo>
                    <a:pt x="60452" y="1006729"/>
                  </a:lnTo>
                  <a:cubicBezTo>
                    <a:pt x="27051" y="1006602"/>
                    <a:pt x="0" y="979551"/>
                    <a:pt x="0" y="946277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30235" cy="1044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9"/>
                </a:lnSpc>
              </a:pPr>
              <a:r>
                <a:rPr lang="en-US" sz="16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END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302040">
            <a:off x="2526554" y="4940294"/>
            <a:ext cx="506216" cy="9525"/>
          </a:xfrm>
          <a:prstGeom prst="line">
            <a:avLst/>
          </a:prstGeom>
          <a:ln cap="rnd" w="9525">
            <a:solidFill>
              <a:srgbClr val="9AA4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V="true">
            <a:off x="5569810" y="4934760"/>
            <a:ext cx="452599" cy="20593"/>
          </a:xfrm>
          <a:prstGeom prst="line">
            <a:avLst/>
          </a:prstGeom>
          <a:ln cap="rnd" w="9525">
            <a:solidFill>
              <a:srgbClr val="9AA4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8582825" y="3860454"/>
            <a:ext cx="304890" cy="1074306"/>
          </a:xfrm>
          <a:prstGeom prst="line">
            <a:avLst/>
          </a:prstGeom>
          <a:ln cap="rnd" w="9525">
            <a:solidFill>
              <a:srgbClr val="9AA4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V="true">
            <a:off x="10967604" y="3549982"/>
            <a:ext cx="826889" cy="310472"/>
          </a:xfrm>
          <a:prstGeom prst="line">
            <a:avLst/>
          </a:prstGeom>
          <a:ln cap="rnd" w="9525">
            <a:solidFill>
              <a:srgbClr val="0B8A5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10967604" y="3860454"/>
            <a:ext cx="826889" cy="1355698"/>
          </a:xfrm>
          <a:prstGeom prst="line">
            <a:avLst/>
          </a:prstGeom>
          <a:ln cap="rnd" w="9525">
            <a:solidFill>
              <a:srgbClr val="B5540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10967604" y="3860454"/>
            <a:ext cx="826889" cy="2618561"/>
          </a:xfrm>
          <a:prstGeom prst="line">
            <a:avLst/>
          </a:prstGeom>
          <a:ln cap="rnd" w="9525">
            <a:solidFill>
              <a:srgbClr val="633C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10967604" y="3860454"/>
            <a:ext cx="826889" cy="3879936"/>
          </a:xfrm>
          <a:prstGeom prst="line">
            <a:avLst/>
          </a:prstGeom>
          <a:ln cap="rnd" w="9525">
            <a:solidFill>
              <a:srgbClr val="11182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>
            <a:off x="14492164" y="7740389"/>
            <a:ext cx="1819299" cy="1478"/>
          </a:xfrm>
          <a:prstGeom prst="line">
            <a:avLst/>
          </a:prstGeom>
          <a:ln cap="rnd" w="9525">
            <a:solidFill>
              <a:srgbClr val="11182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flipH="true">
            <a:off x="7302617" y="4054602"/>
            <a:ext cx="5840716" cy="1425988"/>
          </a:xfrm>
          <a:prstGeom prst="line">
            <a:avLst/>
          </a:prstGeom>
          <a:ln cap="rnd" w="9525">
            <a:solidFill>
              <a:srgbClr val="B6BFD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7302617" y="5480590"/>
            <a:ext cx="5840716" cy="240182"/>
          </a:xfrm>
          <a:prstGeom prst="line">
            <a:avLst/>
          </a:prstGeom>
          <a:ln cap="rnd" w="9525">
            <a:solidFill>
              <a:srgbClr val="B6BFD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7302617" y="5480590"/>
            <a:ext cx="5840716" cy="1503045"/>
          </a:xfrm>
          <a:prstGeom prst="line">
            <a:avLst/>
          </a:prstGeom>
          <a:ln cap="rnd" w="9525">
            <a:solidFill>
              <a:srgbClr val="B6BFD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7" id="47"/>
          <p:cNvSpPr txBox="true"/>
          <p:nvPr/>
        </p:nvSpPr>
        <p:spPr>
          <a:xfrm rot="0">
            <a:off x="1166774" y="8187290"/>
            <a:ext cx="5765225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route_after_agent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186647" y="8325260"/>
            <a:ext cx="192176" cy="192176"/>
            <a:chOff x="0" y="0"/>
            <a:chExt cx="256235" cy="2562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4488637" y="8224266"/>
            <a:ext cx="2813980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 tool call, or step budget spent</a:t>
            </a:r>
          </a:p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→ respond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481068" y="8325260"/>
            <a:ext cx="192176" cy="192176"/>
            <a:chOff x="0" y="0"/>
            <a:chExt cx="256235" cy="2562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783049" y="8224266"/>
            <a:ext cx="2813980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read-only tool call</a:t>
            </a:r>
          </a:p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0B8A5F"/>
                </a:solidFill>
                <a:latin typeface="Arimo Bold"/>
                <a:ea typeface="Arimo Bold"/>
                <a:cs typeface="Arimo Bold"/>
                <a:sym typeface="Arimo Bold"/>
              </a:rPr>
              <a:t>→ tools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775480" y="8325260"/>
            <a:ext cx="192176" cy="192176"/>
            <a:chOff x="0" y="0"/>
            <a:chExt cx="256235" cy="25623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1077470" y="8224266"/>
            <a:ext cx="2813980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write call, fields missing</a:t>
            </a:r>
          </a:p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B55409"/>
                </a:solidFill>
                <a:latin typeface="Arimo Bold"/>
                <a:ea typeface="Arimo Bold"/>
                <a:cs typeface="Arimo Bold"/>
                <a:sym typeface="Arimo Bold"/>
              </a:rPr>
              <a:t>→ clarify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069892" y="8325260"/>
            <a:ext cx="192176" cy="192176"/>
            <a:chOff x="0" y="0"/>
            <a:chExt cx="256235" cy="25623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633CC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4371882" y="8224266"/>
            <a:ext cx="2813980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write call, not confirmed</a:t>
            </a:r>
          </a:p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633CC4"/>
                </a:solidFill>
                <a:latin typeface="Arimo Bold"/>
                <a:ea typeface="Arimo Bold"/>
                <a:cs typeface="Arimo Bold"/>
                <a:sym typeface="Arimo Bold"/>
              </a:rPr>
              <a:t>→ confirm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What each node is responsible for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Only one of six nodes calls the model. Everything a regex or a SQL query does better stays in Python.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6774" y="2772794"/>
            <a:ext cx="15968301" cy="576520"/>
            <a:chOff x="0" y="0"/>
            <a:chExt cx="21291067" cy="768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91042" cy="768731"/>
            </a:xfrm>
            <a:custGeom>
              <a:avLst/>
              <a:gdLst/>
              <a:ahLst/>
              <a:cxnLst/>
              <a:rect r="r" b="b" t="t" l="l"/>
              <a:pathLst>
                <a:path h="768731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8941" y="2820143"/>
            <a:ext cx="2246776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80256" y="2820143"/>
            <a:ext cx="1070162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LLM?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24958" y="2820143"/>
            <a:ext cx="11827754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RESPONSIBILITY</a:t>
            </a:r>
          </a:p>
        </p:txBody>
      </p:sp>
      <p:sp>
        <p:nvSpPr>
          <p:cNvPr name="AutoShape 13" id="13"/>
          <p:cNvSpPr/>
          <p:nvPr/>
        </p:nvSpPr>
        <p:spPr>
          <a:xfrm rot="3060">
            <a:off x="1159621" y="334456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358941" y="3387138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validate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0256" y="3387138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4958" y="3387138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Rejects empty or &gt;2000-char input, extracts EMP####, reads a confirmation or a refusal.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6774" y="4200382"/>
            <a:ext cx="15968301" cy="851059"/>
            <a:chOff x="0" y="0"/>
            <a:chExt cx="21291067" cy="11347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91042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19" id="19"/>
          <p:cNvSpPr/>
          <p:nvPr/>
        </p:nvSpPr>
        <p:spPr>
          <a:xfrm rot="3060">
            <a:off x="1159621" y="4195620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58941" y="4238196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agent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80256" y="4238196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Yes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4958" y="4238196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Decides whether a tool is needed and with which arguments. Wraps model outages.</a:t>
            </a:r>
          </a:p>
        </p:txBody>
      </p:sp>
      <p:sp>
        <p:nvSpPr>
          <p:cNvPr name="AutoShape 23" id="23"/>
          <p:cNvSpPr/>
          <p:nvPr/>
        </p:nvSpPr>
        <p:spPr>
          <a:xfrm rot="3060">
            <a:off x="1159621" y="5046669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358941" y="5089246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tools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80256" y="5089246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24958" y="5089246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Executes every tool call, records a tool_event, promotes a lookup into remembered state.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6774" y="5902490"/>
            <a:ext cx="15968301" cy="851059"/>
            <a:chOff x="0" y="0"/>
            <a:chExt cx="21291067" cy="11347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91042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29" id="29"/>
          <p:cNvSpPr/>
          <p:nvPr/>
        </p:nvSpPr>
        <p:spPr>
          <a:xfrm rot="3060">
            <a:off x="1159621" y="5897728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358941" y="5940304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clarify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80256" y="5940304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24958" y="5940304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Answers an incomplete create_ticket call by naming exactly the missing fields.</a:t>
            </a:r>
          </a:p>
        </p:txBody>
      </p:sp>
      <p:sp>
        <p:nvSpPr>
          <p:cNvPr name="AutoShape 33" id="33"/>
          <p:cNvSpPr/>
          <p:nvPr/>
        </p:nvSpPr>
        <p:spPr>
          <a:xfrm rot="3060">
            <a:off x="1159621" y="6748786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58941" y="6791363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confirm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80256" y="6791363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24958" y="6791363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Human-in-the-loop gate. Stores the draft and asks; writes nothing.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6774" y="7604608"/>
            <a:ext cx="15968301" cy="851059"/>
            <a:chOff x="0" y="0"/>
            <a:chExt cx="21291067" cy="11347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91042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39" id="39"/>
          <p:cNvSpPr/>
          <p:nvPr/>
        </p:nvSpPr>
        <p:spPr>
          <a:xfrm rot="3060">
            <a:off x="1159621" y="7599845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358941" y="7642422"/>
            <a:ext cx="2246776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respond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80256" y="7642422"/>
            <a:ext cx="1070162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24958" y="7642422"/>
            <a:ext cx="11827754" cy="8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Single exit point. Guarantees a non-empty answer.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6774" y="8791261"/>
            <a:ext cx="15968301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Why it matters:  a reviewer can point at the node that enforces a rule. Prompt instructions cannot be pointed at.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State: what it remembers, and what it forgets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Typed channels with explicit reducers, checkpointed per conversation thread.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774" y="9514580"/>
            <a:ext cx="15968301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src/it_support/state.py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6774" y="2772794"/>
            <a:ext cx="10432313" cy="576520"/>
            <a:chOff x="0" y="0"/>
            <a:chExt cx="13909751" cy="768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9802" cy="768731"/>
            </a:xfrm>
            <a:custGeom>
              <a:avLst/>
              <a:gdLst/>
              <a:ahLst/>
              <a:cxnLst/>
              <a:rect r="r" b="b" t="t" l="l"/>
              <a:pathLst>
                <a:path h="768731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8941" y="2829668"/>
            <a:ext cx="2768222" cy="50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CHANNEL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01703" y="2829668"/>
            <a:ext cx="1898866" cy="50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REDUCER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75098" y="2829668"/>
            <a:ext cx="4941618" cy="50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</p:txBody>
      </p:sp>
      <p:sp>
        <p:nvSpPr>
          <p:cNvPr name="AutoShape 14" id="14"/>
          <p:cNvSpPr/>
          <p:nvPr/>
        </p:nvSpPr>
        <p:spPr>
          <a:xfrm rot="4680">
            <a:off x="1159621" y="3344561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58941" y="3396663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messages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1703" y="3396663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add_messages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75098" y="3396663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Running transcript.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6774" y="3953294"/>
            <a:ext cx="10432313" cy="603980"/>
            <a:chOff x="0" y="0"/>
            <a:chExt cx="13909751" cy="8053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802" cy="805307"/>
            </a:xfrm>
            <a:custGeom>
              <a:avLst/>
              <a:gdLst/>
              <a:ahLst/>
              <a:cxnLst/>
              <a:rect r="r" b="b" t="t" l="l"/>
              <a:pathLst>
                <a:path h="805307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20" id="20"/>
          <p:cNvSpPr/>
          <p:nvPr/>
        </p:nvSpPr>
        <p:spPr>
          <a:xfrm rot="4680">
            <a:off x="1159621" y="3948532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358941" y="4000633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employee_id / profile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1703" y="4000633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last value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75098" y="4000633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Identity, remembered across turns.</a:t>
            </a:r>
          </a:p>
        </p:txBody>
      </p:sp>
      <p:sp>
        <p:nvSpPr>
          <p:cNvPr name="AutoShape 24" id="24"/>
          <p:cNvSpPr/>
          <p:nvPr/>
        </p:nvSpPr>
        <p:spPr>
          <a:xfrm rot="4680">
            <a:off x="1159621" y="4552512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358941" y="4604614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pending_ticket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01703" y="4604614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last value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5098" y="4604614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Draft held back, awaiting consent.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66774" y="5161245"/>
            <a:ext cx="10432313" cy="603980"/>
            <a:chOff x="0" y="0"/>
            <a:chExt cx="13909751" cy="8053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909802" cy="805307"/>
            </a:xfrm>
            <a:custGeom>
              <a:avLst/>
              <a:gdLst/>
              <a:ahLst/>
              <a:cxnLst/>
              <a:rect r="r" b="b" t="t" l="l"/>
              <a:pathLst>
                <a:path h="805307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30" id="30"/>
          <p:cNvSpPr/>
          <p:nvPr/>
        </p:nvSpPr>
        <p:spPr>
          <a:xfrm rot="4680">
            <a:off x="1159621" y="5156483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358941" y="5208584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confirmed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01703" y="5208584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last value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75098" y="5208584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True only for the turn the user agreed.</a:t>
            </a:r>
          </a:p>
        </p:txBody>
      </p:sp>
      <p:sp>
        <p:nvSpPr>
          <p:cNvPr name="AutoShape 34" id="34"/>
          <p:cNvSpPr/>
          <p:nvPr/>
        </p:nvSpPr>
        <p:spPr>
          <a:xfrm rot="4680">
            <a:off x="1159621" y="5760463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358941" y="5812565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missing_fields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01703" y="5812565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last value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75098" y="5812565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What a ticket still needs.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6774" y="6369196"/>
            <a:ext cx="10432313" cy="603980"/>
            <a:chOff x="0" y="0"/>
            <a:chExt cx="13909751" cy="8053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09802" cy="805307"/>
            </a:xfrm>
            <a:custGeom>
              <a:avLst/>
              <a:gdLst/>
              <a:ahLst/>
              <a:cxnLst/>
              <a:rect r="r" b="b" t="t" l="l"/>
              <a:pathLst>
                <a:path h="805307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40" id="40"/>
          <p:cNvSpPr/>
          <p:nvPr/>
        </p:nvSpPr>
        <p:spPr>
          <a:xfrm rot="4680">
            <a:off x="1159621" y="6364434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358941" y="6416545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tool_events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401703" y="6416545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operator.add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75098" y="6416545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Append-only audit trail rendered by the UI.</a:t>
            </a:r>
          </a:p>
        </p:txBody>
      </p:sp>
      <p:sp>
        <p:nvSpPr>
          <p:cNvPr name="AutoShape 44" id="44"/>
          <p:cNvSpPr/>
          <p:nvPr/>
        </p:nvSpPr>
        <p:spPr>
          <a:xfrm rot="4680">
            <a:off x="1159621" y="6968414"/>
            <a:ext cx="10446620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358941" y="7020516"/>
            <a:ext cx="2768222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steps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01703" y="7020516"/>
            <a:ext cx="1898866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last value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75098" y="7020516"/>
            <a:ext cx="4941618" cy="57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Tool-loop budget for the turn (MAX_AGENT_STEPS = 6).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069032" y="2762317"/>
            <a:ext cx="5076520" cy="2148611"/>
            <a:chOff x="0" y="0"/>
            <a:chExt cx="6768694" cy="28648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68592" cy="2864739"/>
            </a:xfrm>
            <a:custGeom>
              <a:avLst/>
              <a:gdLst/>
              <a:ahLst/>
              <a:cxnLst/>
              <a:rect r="r" b="b" t="t" l="l"/>
              <a:pathLst>
                <a:path h="2864739" w="6768592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6596761" y="0"/>
                  </a:lnTo>
                  <a:cubicBezTo>
                    <a:pt x="6691630" y="0"/>
                    <a:pt x="6768592" y="76962"/>
                    <a:pt x="6768592" y="171831"/>
                  </a:cubicBezTo>
                  <a:lnTo>
                    <a:pt x="6768592" y="2692908"/>
                  </a:lnTo>
                  <a:cubicBezTo>
                    <a:pt x="6768592" y="2787777"/>
                    <a:pt x="6691630" y="2864739"/>
                    <a:pt x="6596761" y="2864739"/>
                  </a:cubicBezTo>
                  <a:lnTo>
                    <a:pt x="171831" y="2864739"/>
                  </a:lnTo>
                  <a:cubicBezTo>
                    <a:pt x="76962" y="2864866"/>
                    <a:pt x="0" y="2787904"/>
                    <a:pt x="0" y="2692908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079519" y="2772794"/>
            <a:ext cx="102946" cy="2127647"/>
            <a:chOff x="0" y="0"/>
            <a:chExt cx="137262" cy="28368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287" cy="2836799"/>
            </a:xfrm>
            <a:custGeom>
              <a:avLst/>
              <a:gdLst/>
              <a:ahLst/>
              <a:cxnLst/>
              <a:rect r="r" b="b" t="t" l="l"/>
              <a:pathLst>
                <a:path h="2836799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436412" y="2961608"/>
            <a:ext cx="4341762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Memory that pays off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22555" y="3447364"/>
            <a:ext cx="3065305" cy="1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324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“yes, check my tickets” resolves three turns after the ID was given - no re-asking. SqliteSaver persists the thread, so a page refresh does not lose the conversation.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069032" y="5164493"/>
            <a:ext cx="5076520" cy="2354513"/>
            <a:chOff x="0" y="0"/>
            <a:chExt cx="6768694" cy="31393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68719" cy="3139313"/>
            </a:xfrm>
            <a:custGeom>
              <a:avLst/>
              <a:gdLst/>
              <a:ahLst/>
              <a:cxnLst/>
              <a:rect r="r" b="b" t="t" l="l"/>
              <a:pathLst>
                <a:path h="3139313" w="6768719">
                  <a:moveTo>
                    <a:pt x="0" y="188341"/>
                  </a:moveTo>
                  <a:cubicBezTo>
                    <a:pt x="0" y="84328"/>
                    <a:pt x="84328" y="0"/>
                    <a:pt x="188341" y="0"/>
                  </a:cubicBezTo>
                  <a:lnTo>
                    <a:pt x="6580378" y="0"/>
                  </a:lnTo>
                  <a:cubicBezTo>
                    <a:pt x="6684391" y="0"/>
                    <a:pt x="6768719" y="84328"/>
                    <a:pt x="6768719" y="188341"/>
                  </a:cubicBezTo>
                  <a:lnTo>
                    <a:pt x="6768719" y="2950972"/>
                  </a:lnTo>
                  <a:cubicBezTo>
                    <a:pt x="6768719" y="3054985"/>
                    <a:pt x="6684391" y="3139313"/>
                    <a:pt x="6580378" y="3139313"/>
                  </a:cubicBezTo>
                  <a:lnTo>
                    <a:pt x="188341" y="3139313"/>
                  </a:lnTo>
                  <a:cubicBezTo>
                    <a:pt x="84328" y="3139313"/>
                    <a:pt x="0" y="3054985"/>
                    <a:pt x="0" y="2950972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079519" y="5174971"/>
            <a:ext cx="102946" cy="2333539"/>
            <a:chOff x="0" y="0"/>
            <a:chExt cx="137262" cy="311138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28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436412" y="5363785"/>
            <a:ext cx="4341762" cy="8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Memory that is dropped on purpose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58690" y="6195706"/>
            <a:ext cx="3151888" cy="131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362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 new EMP#### clears the remembered profile and any pending draft, rather than re-attributing it. A “yes” that also names a new employee does not stand as consent for the previous one's ticket.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Five tools, four read, one writes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Native function calling via langchain-core. Every tool returns an envelope, never an exception.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6774" y="2772794"/>
            <a:ext cx="15968301" cy="576520"/>
            <a:chOff x="0" y="0"/>
            <a:chExt cx="21291067" cy="768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91042" cy="768731"/>
            </a:xfrm>
            <a:custGeom>
              <a:avLst/>
              <a:gdLst/>
              <a:ahLst/>
              <a:cxnLst/>
              <a:rect r="r" b="b" t="t" l="l"/>
              <a:pathLst>
                <a:path h="768731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8941" y="2820143"/>
            <a:ext cx="3398177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1657" y="2820143"/>
            <a:ext cx="1162612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KIND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8799" y="2820143"/>
            <a:ext cx="7070884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14212" y="2820143"/>
            <a:ext cx="3238490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BACKING TABLE</a:t>
            </a:r>
          </a:p>
        </p:txBody>
      </p:sp>
      <p:sp>
        <p:nvSpPr>
          <p:cNvPr name="AutoShape 14" id="14"/>
          <p:cNvSpPr/>
          <p:nvPr/>
        </p:nvSpPr>
        <p:spPr>
          <a:xfrm rot="3060">
            <a:off x="1159621" y="334456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58941" y="3387138"/>
            <a:ext cx="3398177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knowledge_search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31657" y="3387138"/>
            <a:ext cx="1162612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68799" y="3387138"/>
            <a:ext cx="7070884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BM25 search over IT how-to articles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14212" y="3387138"/>
            <a:ext cx="3238490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kb_articles (15)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6774" y="4035657"/>
            <a:ext cx="15968301" cy="686333"/>
            <a:chOff x="0" y="0"/>
            <a:chExt cx="21291067" cy="915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91042" cy="915162"/>
            </a:xfrm>
            <a:custGeom>
              <a:avLst/>
              <a:gdLst/>
              <a:ahLst/>
              <a:cxnLst/>
              <a:rect r="r" b="b" t="t" l="l"/>
              <a:pathLst>
                <a:path h="915162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21" id="21"/>
          <p:cNvSpPr/>
          <p:nvPr/>
        </p:nvSpPr>
        <p:spPr>
          <a:xfrm rot="3060">
            <a:off x="1159621" y="4030894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358941" y="4073471"/>
            <a:ext cx="3398177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ticket_lookup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31657" y="4073471"/>
            <a:ext cx="1162612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68799" y="4073471"/>
            <a:ext cx="7070884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Tickets by employee, ID, status or keyword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14212" y="4073471"/>
            <a:ext cx="3238490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tickets (18)</a:t>
            </a:r>
          </a:p>
        </p:txBody>
      </p:sp>
      <p:sp>
        <p:nvSpPr>
          <p:cNvPr name="AutoShape 26" id="26"/>
          <p:cNvSpPr/>
          <p:nvPr/>
        </p:nvSpPr>
        <p:spPr>
          <a:xfrm rot="3060">
            <a:off x="1159621" y="4717228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358941" y="4759804"/>
            <a:ext cx="3398177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get_employee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31657" y="4759804"/>
            <a:ext cx="1162612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68799" y="4759804"/>
            <a:ext cx="7070884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Resolve an employee from ID, email or name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14212" y="4759804"/>
            <a:ext cx="3238490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employees (12)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66774" y="5408333"/>
            <a:ext cx="15968301" cy="686333"/>
            <a:chOff x="0" y="0"/>
            <a:chExt cx="21291067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91042" cy="915162"/>
            </a:xfrm>
            <a:custGeom>
              <a:avLst/>
              <a:gdLst/>
              <a:ahLst/>
              <a:cxnLst/>
              <a:rect r="r" b="b" t="t" l="l"/>
              <a:pathLst>
                <a:path h="915162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33" id="33"/>
          <p:cNvSpPr/>
          <p:nvPr/>
        </p:nvSpPr>
        <p:spPr>
          <a:xfrm rot="3060">
            <a:off x="1159621" y="540357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58941" y="5446147"/>
            <a:ext cx="3398177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system_status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31657" y="5446147"/>
            <a:ext cx="1162612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68799" y="5446147"/>
            <a:ext cx="7070884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Current health of internal services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14212" y="5446147"/>
            <a:ext cx="3238490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system_status (6)</a:t>
            </a:r>
          </a:p>
        </p:txBody>
      </p:sp>
      <p:sp>
        <p:nvSpPr>
          <p:cNvPr name="AutoShape 38" id="38"/>
          <p:cNvSpPr/>
          <p:nvPr/>
        </p:nvSpPr>
        <p:spPr>
          <a:xfrm rot="3060">
            <a:off x="1159621" y="6089904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358941" y="6132481"/>
            <a:ext cx="3398177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create_ticket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1657" y="6132481"/>
            <a:ext cx="1162612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WRITE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468799" y="6132481"/>
            <a:ext cx="7070884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Raise a ticket — validated, confirmed, de-duplicated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14212" y="6132481"/>
            <a:ext cx="3238490" cy="6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tickets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56287" y="7250954"/>
            <a:ext cx="7799222" cy="2011347"/>
            <a:chOff x="0" y="0"/>
            <a:chExt cx="10398963" cy="26817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99014" cy="2681859"/>
            </a:xfrm>
            <a:custGeom>
              <a:avLst/>
              <a:gdLst/>
              <a:ahLst/>
              <a:cxnLst/>
              <a:rect r="r" b="b" t="t" l="l"/>
              <a:pathLst>
                <a:path h="2681859" w="10399014">
                  <a:moveTo>
                    <a:pt x="0" y="160909"/>
                  </a:moveTo>
                  <a:cubicBezTo>
                    <a:pt x="0" y="72009"/>
                    <a:pt x="72009" y="0"/>
                    <a:pt x="160909" y="0"/>
                  </a:cubicBezTo>
                  <a:lnTo>
                    <a:pt x="10238105" y="0"/>
                  </a:lnTo>
                  <a:cubicBezTo>
                    <a:pt x="10327005" y="0"/>
                    <a:pt x="10399014" y="72009"/>
                    <a:pt x="10399014" y="160909"/>
                  </a:cubicBezTo>
                  <a:lnTo>
                    <a:pt x="10399014" y="2520950"/>
                  </a:lnTo>
                  <a:cubicBezTo>
                    <a:pt x="10399014" y="2609850"/>
                    <a:pt x="10327005" y="2681859"/>
                    <a:pt x="10238105" y="2681859"/>
                  </a:cubicBezTo>
                  <a:lnTo>
                    <a:pt x="160909" y="2681859"/>
                  </a:lnTo>
                  <a:cubicBezTo>
                    <a:pt x="72009" y="2681859"/>
                    <a:pt x="0" y="2609850"/>
                    <a:pt x="0" y="2520950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66774" y="7261431"/>
            <a:ext cx="102946" cy="1990373"/>
            <a:chOff x="0" y="0"/>
            <a:chExt cx="137262" cy="26538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28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523667" y="7450245"/>
            <a:ext cx="7064454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The envelope contract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23667" y="7803567"/>
            <a:ext cx="7064454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{ ok: bool, error: str | None, ...payload }</a:t>
            </a:r>
          </a:p>
          <a:p>
            <a:pPr algn="l">
              <a:lnSpc>
                <a:spcPts val="2766"/>
              </a:lnSpc>
            </a:pP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Every tool is wrapped: an unexpected exception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becomes a failed result, not a stack trace.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46340" y="7250954"/>
            <a:ext cx="7799222" cy="2011347"/>
            <a:chOff x="0" y="0"/>
            <a:chExt cx="10398963" cy="26817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399014" cy="2681859"/>
            </a:xfrm>
            <a:custGeom>
              <a:avLst/>
              <a:gdLst/>
              <a:ahLst/>
              <a:cxnLst/>
              <a:rect r="r" b="b" t="t" l="l"/>
              <a:pathLst>
                <a:path h="2681859" w="10399014">
                  <a:moveTo>
                    <a:pt x="0" y="160909"/>
                  </a:moveTo>
                  <a:cubicBezTo>
                    <a:pt x="0" y="72009"/>
                    <a:pt x="72009" y="0"/>
                    <a:pt x="160909" y="0"/>
                  </a:cubicBezTo>
                  <a:lnTo>
                    <a:pt x="10238105" y="0"/>
                  </a:lnTo>
                  <a:cubicBezTo>
                    <a:pt x="10327005" y="0"/>
                    <a:pt x="10399014" y="72009"/>
                    <a:pt x="10399014" y="160909"/>
                  </a:cubicBezTo>
                  <a:lnTo>
                    <a:pt x="10399014" y="2520950"/>
                  </a:lnTo>
                  <a:cubicBezTo>
                    <a:pt x="10399014" y="2609850"/>
                    <a:pt x="10327005" y="2681859"/>
                    <a:pt x="10238105" y="2681859"/>
                  </a:cubicBezTo>
                  <a:lnTo>
                    <a:pt x="160909" y="2681859"/>
                  </a:lnTo>
                  <a:cubicBezTo>
                    <a:pt x="72009" y="2681859"/>
                    <a:pt x="0" y="2609850"/>
                    <a:pt x="0" y="2520950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356817" y="7261431"/>
            <a:ext cx="102946" cy="1990373"/>
            <a:chOff x="0" y="0"/>
            <a:chExt cx="137262" cy="26538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728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713719" y="7450245"/>
            <a:ext cx="7064454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No fabrication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42957" y="7803567"/>
            <a:ext cx="7064454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The prompt forbids inventing tickets, employees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or articles. A search below the relevance floor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returns an explicit “no article matched” rather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than the closest bad answer.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SAFETY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The write gate, step by step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create_ticket never executes on the turn the model first asks for it.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2973038" cy="3246749"/>
            <a:chOff x="0" y="0"/>
            <a:chExt cx="3964051" cy="4328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64051" cy="4329049"/>
            </a:xfrm>
            <a:custGeom>
              <a:avLst/>
              <a:gdLst/>
              <a:ahLst/>
              <a:cxnLst/>
              <a:rect r="r" b="b" t="t" l="l"/>
              <a:pathLst>
                <a:path h="4329049" w="3964051">
                  <a:moveTo>
                    <a:pt x="0" y="237871"/>
                  </a:moveTo>
                  <a:cubicBezTo>
                    <a:pt x="0" y="106426"/>
                    <a:pt x="106426" y="0"/>
                    <a:pt x="237871" y="0"/>
                  </a:cubicBezTo>
                  <a:lnTo>
                    <a:pt x="3726180" y="0"/>
                  </a:lnTo>
                  <a:cubicBezTo>
                    <a:pt x="3857498" y="0"/>
                    <a:pt x="3964051" y="106426"/>
                    <a:pt x="3964051" y="237871"/>
                  </a:cubicBezTo>
                  <a:lnTo>
                    <a:pt x="3964051" y="4091178"/>
                  </a:lnTo>
                  <a:cubicBezTo>
                    <a:pt x="3964051" y="4222496"/>
                    <a:pt x="3857625" y="4329049"/>
                    <a:pt x="3726180" y="4329049"/>
                  </a:cubicBezTo>
                  <a:lnTo>
                    <a:pt x="237871" y="4329049"/>
                  </a:lnTo>
                  <a:cubicBezTo>
                    <a:pt x="106426" y="4329049"/>
                    <a:pt x="0" y="4222496"/>
                    <a:pt x="0" y="4091178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47526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68755" y="3074784"/>
            <a:ext cx="549069" cy="549069"/>
            <a:chOff x="0" y="0"/>
            <a:chExt cx="732092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47526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32092" cy="77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8755" y="3767280"/>
            <a:ext cx="2348093" cy="103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Model calls create_ticket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755" y="4645790"/>
            <a:ext cx="2348093" cy="11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Anywhere in the turn, with whatever arguments it inferred.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80608" y="4214108"/>
            <a:ext cx="178451" cy="301990"/>
            <a:chOff x="0" y="0"/>
            <a:chExt cx="237934" cy="402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871" cy="402590"/>
            </a:xfrm>
            <a:custGeom>
              <a:avLst/>
              <a:gdLst/>
              <a:ahLst/>
              <a:cxnLst/>
              <a:rect r="r" b="b" t="t" l="l"/>
              <a:pathLst>
                <a:path h="402590" w="237871">
                  <a:moveTo>
                    <a:pt x="0" y="402590"/>
                  </a:moveTo>
                  <a:lnTo>
                    <a:pt x="0" y="0"/>
                  </a:lnTo>
                  <a:lnTo>
                    <a:pt x="237871" y="402590"/>
                  </a:lnTo>
                  <a:close/>
                </a:path>
              </a:pathLst>
            </a:custGeom>
            <a:solidFill>
              <a:srgbClr val="B6BF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10342" y="2762317"/>
            <a:ext cx="2973038" cy="3246749"/>
            <a:chOff x="0" y="0"/>
            <a:chExt cx="3964051" cy="43289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64051" cy="4329049"/>
            </a:xfrm>
            <a:custGeom>
              <a:avLst/>
              <a:gdLst/>
              <a:ahLst/>
              <a:cxnLst/>
              <a:rect r="r" b="b" t="t" l="l"/>
              <a:pathLst>
                <a:path h="4329049" w="3964051">
                  <a:moveTo>
                    <a:pt x="0" y="237871"/>
                  </a:moveTo>
                  <a:cubicBezTo>
                    <a:pt x="0" y="106426"/>
                    <a:pt x="106426" y="0"/>
                    <a:pt x="237871" y="0"/>
                  </a:cubicBezTo>
                  <a:lnTo>
                    <a:pt x="3726180" y="0"/>
                  </a:lnTo>
                  <a:cubicBezTo>
                    <a:pt x="3857498" y="0"/>
                    <a:pt x="3964051" y="106426"/>
                    <a:pt x="3964051" y="237871"/>
                  </a:cubicBezTo>
                  <a:lnTo>
                    <a:pt x="3964051" y="4091178"/>
                  </a:lnTo>
                  <a:cubicBezTo>
                    <a:pt x="3964051" y="4222496"/>
                    <a:pt x="3857625" y="4329049"/>
                    <a:pt x="3726180" y="4329049"/>
                  </a:cubicBezTo>
                  <a:lnTo>
                    <a:pt x="237871" y="4329049"/>
                  </a:lnTo>
                  <a:cubicBezTo>
                    <a:pt x="106426" y="4329049"/>
                    <a:pt x="0" y="4222496"/>
                    <a:pt x="0" y="4091178"/>
                  </a:cubicBezTo>
                  <a:close/>
                </a:path>
              </a:pathLst>
            </a:custGeom>
            <a:solidFill>
              <a:srgbClr val="FDF0E3"/>
            </a:solidFill>
            <a:ln w="20971" cap="sq">
              <a:solidFill>
                <a:srgbClr val="B5540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722819" y="3074784"/>
            <a:ext cx="549069" cy="549069"/>
            <a:chOff x="0" y="0"/>
            <a:chExt cx="732092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B5540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32092" cy="77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22819" y="3767280"/>
            <a:ext cx="2348093" cy="103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Fields checked in code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22819" y="4645790"/>
            <a:ext cx="2348093" cy="11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Missing employee ID, category, subject or description → clarify. Nothing written.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34672" y="4214108"/>
            <a:ext cx="178451" cy="301990"/>
            <a:chOff x="0" y="0"/>
            <a:chExt cx="237934" cy="4026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871" cy="402590"/>
            </a:xfrm>
            <a:custGeom>
              <a:avLst/>
              <a:gdLst/>
              <a:ahLst/>
              <a:cxnLst/>
              <a:rect r="r" b="b" t="t" l="l"/>
              <a:pathLst>
                <a:path h="402590" w="237871">
                  <a:moveTo>
                    <a:pt x="0" y="402590"/>
                  </a:moveTo>
                  <a:lnTo>
                    <a:pt x="0" y="0"/>
                  </a:lnTo>
                  <a:lnTo>
                    <a:pt x="237871" y="402590"/>
                  </a:lnTo>
                  <a:close/>
                </a:path>
              </a:pathLst>
            </a:custGeom>
            <a:solidFill>
              <a:srgbClr val="B6BFD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64396" y="2762317"/>
            <a:ext cx="2973038" cy="3246749"/>
            <a:chOff x="0" y="0"/>
            <a:chExt cx="3964051" cy="43289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64051" cy="4329049"/>
            </a:xfrm>
            <a:custGeom>
              <a:avLst/>
              <a:gdLst/>
              <a:ahLst/>
              <a:cxnLst/>
              <a:rect r="r" b="b" t="t" l="l"/>
              <a:pathLst>
                <a:path h="4329049" w="3964051">
                  <a:moveTo>
                    <a:pt x="0" y="237871"/>
                  </a:moveTo>
                  <a:cubicBezTo>
                    <a:pt x="0" y="106426"/>
                    <a:pt x="106426" y="0"/>
                    <a:pt x="237871" y="0"/>
                  </a:cubicBezTo>
                  <a:lnTo>
                    <a:pt x="3726180" y="0"/>
                  </a:lnTo>
                  <a:cubicBezTo>
                    <a:pt x="3857498" y="0"/>
                    <a:pt x="3964051" y="106426"/>
                    <a:pt x="3964051" y="237871"/>
                  </a:cubicBezTo>
                  <a:lnTo>
                    <a:pt x="3964051" y="4091178"/>
                  </a:lnTo>
                  <a:cubicBezTo>
                    <a:pt x="3964051" y="4222496"/>
                    <a:pt x="3857625" y="4329049"/>
                    <a:pt x="3726180" y="4329049"/>
                  </a:cubicBezTo>
                  <a:lnTo>
                    <a:pt x="237871" y="4329049"/>
                  </a:lnTo>
                  <a:cubicBezTo>
                    <a:pt x="106426" y="4329049"/>
                    <a:pt x="0" y="4222496"/>
                    <a:pt x="0" y="4091178"/>
                  </a:cubicBezTo>
                  <a:close/>
                </a:path>
              </a:pathLst>
            </a:custGeom>
            <a:solidFill>
              <a:srgbClr val="F0EBFD"/>
            </a:solidFill>
            <a:ln w="20971" cap="sq">
              <a:solidFill>
                <a:srgbClr val="633CC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76873" y="3074784"/>
            <a:ext cx="549069" cy="549069"/>
            <a:chOff x="0" y="0"/>
            <a:chExt cx="732092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633CC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2092" cy="77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976873" y="3767280"/>
            <a:ext cx="2348093" cy="103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Consent checked in code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76873" y="4645790"/>
            <a:ext cx="2348093" cy="11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 prior confirmation → confirm. The draft is stored and the employee is asked.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688726" y="4214108"/>
            <a:ext cx="178451" cy="301990"/>
            <a:chOff x="0" y="0"/>
            <a:chExt cx="23793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871" cy="402590"/>
            </a:xfrm>
            <a:custGeom>
              <a:avLst/>
              <a:gdLst/>
              <a:ahLst/>
              <a:cxnLst/>
              <a:rect r="r" b="b" t="t" l="l"/>
              <a:pathLst>
                <a:path h="402590" w="237871">
                  <a:moveTo>
                    <a:pt x="0" y="402590"/>
                  </a:moveTo>
                  <a:lnTo>
                    <a:pt x="0" y="0"/>
                  </a:lnTo>
                  <a:lnTo>
                    <a:pt x="237871" y="402590"/>
                  </a:lnTo>
                  <a:close/>
                </a:path>
              </a:pathLst>
            </a:custGeom>
            <a:solidFill>
              <a:srgbClr val="B6BFD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18460" y="2762317"/>
            <a:ext cx="2973038" cy="3246749"/>
            <a:chOff x="0" y="0"/>
            <a:chExt cx="3964051" cy="43289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64051" cy="4329049"/>
            </a:xfrm>
            <a:custGeom>
              <a:avLst/>
              <a:gdLst/>
              <a:ahLst/>
              <a:cxnLst/>
              <a:rect r="r" b="b" t="t" l="l"/>
              <a:pathLst>
                <a:path h="4329049" w="3964051">
                  <a:moveTo>
                    <a:pt x="0" y="237871"/>
                  </a:moveTo>
                  <a:cubicBezTo>
                    <a:pt x="0" y="106426"/>
                    <a:pt x="106426" y="0"/>
                    <a:pt x="237871" y="0"/>
                  </a:cubicBezTo>
                  <a:lnTo>
                    <a:pt x="3726180" y="0"/>
                  </a:lnTo>
                  <a:cubicBezTo>
                    <a:pt x="3857498" y="0"/>
                    <a:pt x="3964051" y="106426"/>
                    <a:pt x="3964051" y="237871"/>
                  </a:cubicBezTo>
                  <a:lnTo>
                    <a:pt x="3964051" y="4091178"/>
                  </a:lnTo>
                  <a:cubicBezTo>
                    <a:pt x="3964051" y="4222496"/>
                    <a:pt x="3857625" y="4329049"/>
                    <a:pt x="3726180" y="4329049"/>
                  </a:cubicBezTo>
                  <a:lnTo>
                    <a:pt x="237871" y="4329049"/>
                  </a:lnTo>
                  <a:cubicBezTo>
                    <a:pt x="106426" y="4329049"/>
                    <a:pt x="0" y="4222496"/>
                    <a:pt x="0" y="4091178"/>
                  </a:cubicBezTo>
                  <a:close/>
                </a:path>
              </a:pathLst>
            </a:custGeom>
            <a:solidFill>
              <a:srgbClr val="E8EDFD"/>
            </a:solidFill>
            <a:ln w="20971" cap="sq">
              <a:solidFill>
                <a:srgbClr val="2B4AC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230928" y="3074784"/>
            <a:ext cx="549069" cy="549069"/>
            <a:chOff x="0" y="0"/>
            <a:chExt cx="732092" cy="7320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2B4A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32092" cy="77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230928" y="3767280"/>
            <a:ext cx="2348093" cy="103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Duplicate check in SQL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30928" y="4439898"/>
            <a:ext cx="2348093" cy="11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Open ticket, same employee, same category or similar subject within 7 days → return the existing one.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942781" y="4214108"/>
            <a:ext cx="178451" cy="301990"/>
            <a:chOff x="0" y="0"/>
            <a:chExt cx="237934" cy="4026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871" cy="402590"/>
            </a:xfrm>
            <a:custGeom>
              <a:avLst/>
              <a:gdLst/>
              <a:ahLst/>
              <a:cxnLst/>
              <a:rect r="r" b="b" t="t" l="l"/>
              <a:pathLst>
                <a:path h="402590" w="237871">
                  <a:moveTo>
                    <a:pt x="0" y="402590"/>
                  </a:moveTo>
                  <a:lnTo>
                    <a:pt x="0" y="0"/>
                  </a:lnTo>
                  <a:lnTo>
                    <a:pt x="237871" y="402590"/>
                  </a:lnTo>
                  <a:close/>
                </a:path>
              </a:pathLst>
            </a:custGeom>
            <a:solidFill>
              <a:srgbClr val="B6BFD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172514" y="2762317"/>
            <a:ext cx="2973038" cy="3246749"/>
            <a:chOff x="0" y="0"/>
            <a:chExt cx="3964051" cy="432899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64051" cy="4329049"/>
            </a:xfrm>
            <a:custGeom>
              <a:avLst/>
              <a:gdLst/>
              <a:ahLst/>
              <a:cxnLst/>
              <a:rect r="r" b="b" t="t" l="l"/>
              <a:pathLst>
                <a:path h="4329049" w="3964051">
                  <a:moveTo>
                    <a:pt x="0" y="237871"/>
                  </a:moveTo>
                  <a:cubicBezTo>
                    <a:pt x="0" y="106426"/>
                    <a:pt x="106426" y="0"/>
                    <a:pt x="237871" y="0"/>
                  </a:cubicBezTo>
                  <a:lnTo>
                    <a:pt x="3726180" y="0"/>
                  </a:lnTo>
                  <a:cubicBezTo>
                    <a:pt x="3857498" y="0"/>
                    <a:pt x="3964051" y="106426"/>
                    <a:pt x="3964051" y="237871"/>
                  </a:cubicBezTo>
                  <a:lnTo>
                    <a:pt x="3964051" y="4091178"/>
                  </a:lnTo>
                  <a:cubicBezTo>
                    <a:pt x="3964051" y="4222496"/>
                    <a:pt x="3857625" y="4329049"/>
                    <a:pt x="3726180" y="4329049"/>
                  </a:cubicBezTo>
                  <a:lnTo>
                    <a:pt x="237871" y="4329049"/>
                  </a:lnTo>
                  <a:cubicBezTo>
                    <a:pt x="106426" y="4329049"/>
                    <a:pt x="0" y="4222496"/>
                    <a:pt x="0" y="4091178"/>
                  </a:cubicBezTo>
                  <a:close/>
                </a:path>
              </a:pathLst>
            </a:custGeom>
            <a:solidFill>
              <a:srgbClr val="E4F6EF"/>
            </a:solidFill>
            <a:ln w="20971" cap="sq">
              <a:solidFill>
                <a:srgbClr val="0B8A5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484991" y="3074784"/>
            <a:ext cx="549069" cy="549069"/>
            <a:chOff x="0" y="0"/>
            <a:chExt cx="732092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0B8A5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32092" cy="77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195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484991" y="3767280"/>
            <a:ext cx="2348093" cy="103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Insert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84991" y="4645790"/>
            <a:ext cx="2348093" cy="11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Only now. INC-#### returned, and the draft is cleared from state.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66774" y="6410382"/>
            <a:ext cx="15968301" cy="1441304"/>
            <a:chOff x="0" y="0"/>
            <a:chExt cx="21291067" cy="19217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291043" cy="1921764"/>
            </a:xfrm>
            <a:custGeom>
              <a:avLst/>
              <a:gdLst/>
              <a:ahLst/>
              <a:cxnLst/>
              <a:rect r="r" b="b" t="t" l="l"/>
              <a:pathLst>
                <a:path h="1921764" w="21291043">
                  <a:moveTo>
                    <a:pt x="0" y="115316"/>
                  </a:moveTo>
                  <a:cubicBezTo>
                    <a:pt x="0" y="51562"/>
                    <a:pt x="51562" y="0"/>
                    <a:pt x="115316" y="0"/>
                  </a:cubicBezTo>
                  <a:lnTo>
                    <a:pt x="21175726" y="0"/>
                  </a:lnTo>
                  <a:cubicBezTo>
                    <a:pt x="21239353" y="0"/>
                    <a:pt x="21291043" y="51562"/>
                    <a:pt x="21291043" y="115316"/>
                  </a:cubicBezTo>
                  <a:lnTo>
                    <a:pt x="21291043" y="1806448"/>
                  </a:lnTo>
                  <a:cubicBezTo>
                    <a:pt x="21291043" y="1870075"/>
                    <a:pt x="21239480" y="1921764"/>
                    <a:pt x="21175726" y="1921764"/>
                  </a:cubicBezTo>
                  <a:lnTo>
                    <a:pt x="115316" y="1921764"/>
                  </a:lnTo>
                  <a:cubicBezTo>
                    <a:pt x="51689" y="1921764"/>
                    <a:pt x="0" y="1870202"/>
                    <a:pt x="0" y="1806448"/>
                  </a:cubicBez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647206" y="6581261"/>
            <a:ext cx="15007428" cy="109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8FA6FF"/>
                </a:solidFill>
                <a:latin typeface="Arimo Bold"/>
                <a:ea typeface="Arimo Bold"/>
                <a:cs typeface="Arimo Bold"/>
                <a:sym typeface="Arimo Bold"/>
              </a:rPr>
              <a:t>The gate is code, not a prompt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prompt asks the model to confirm. route_after_agent guarantees it - when the model jumps the gun, the graph answers its tool call with an instruction, so the transcript stays valid and no row is written.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SAFETY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Six controls, each testable on its 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Every one of these has a test that fails if the control is removed.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5114954" cy="1805445"/>
            <a:chOff x="0" y="0"/>
            <a:chExt cx="6819938" cy="2407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96216" y="3102235"/>
            <a:ext cx="466706" cy="466706"/>
            <a:chOff x="0" y="0"/>
            <a:chExt cx="622275" cy="622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27637" y="305349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Write gate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6216" y="3630016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create_ticket is the only write, and it is intercepted on every turn.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93443" y="2762317"/>
            <a:ext cx="5114954" cy="1805445"/>
            <a:chOff x="0" y="0"/>
            <a:chExt cx="6819938" cy="24072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33371" y="3102235"/>
            <a:ext cx="466706" cy="466706"/>
            <a:chOff x="0" y="0"/>
            <a:chExt cx="622275" cy="622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64793" y="305349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Field validation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33371" y="3630016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Required fields, employee existence, allowed category and priority vocabularies.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30599" y="2762317"/>
            <a:ext cx="5114954" cy="1805445"/>
            <a:chOff x="0" y="0"/>
            <a:chExt cx="6819938" cy="24072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370527" y="3102235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01949" y="305349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Duplicate suppression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70527" y="3630016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Open ticket, same employee, same category or similar subject inside the 7-day window.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56287" y="4821317"/>
            <a:ext cx="5114954" cy="1805445"/>
            <a:chOff x="0" y="0"/>
            <a:chExt cx="6819938" cy="24072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96216" y="5161245"/>
            <a:ext cx="466706" cy="466706"/>
            <a:chOff x="0" y="0"/>
            <a:chExt cx="622275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127637" y="511250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No fabrication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6216" y="5689025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Structured tool results; a no-match search says so explicitly.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93443" y="4821317"/>
            <a:ext cx="5114954" cy="1805445"/>
            <a:chOff x="0" y="0"/>
            <a:chExt cx="6819938" cy="24072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933371" y="5161245"/>
            <a:ext cx="466706" cy="466706"/>
            <a:chOff x="0" y="0"/>
            <a:chExt cx="622275" cy="622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564793" y="511250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Graceful failure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33371" y="5689025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Tool exceptions become failed results; a model outage becomes a plain sentence.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030599" y="4821317"/>
            <a:ext cx="5114954" cy="1805445"/>
            <a:chOff x="0" y="0"/>
            <a:chExt cx="6819938" cy="24072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19900" cy="2407158"/>
            </a:xfrm>
            <a:custGeom>
              <a:avLst/>
              <a:gdLst/>
              <a:ahLst/>
              <a:cxnLst/>
              <a:rect r="r" b="b" t="t" l="l"/>
              <a:pathLst>
                <a:path h="2407158" w="681990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675501" y="0"/>
                  </a:lnTo>
                  <a:cubicBezTo>
                    <a:pt x="6755257" y="0"/>
                    <a:pt x="6819900" y="64643"/>
                    <a:pt x="6819900" y="144399"/>
                  </a:cubicBezTo>
                  <a:lnTo>
                    <a:pt x="6819900" y="2262759"/>
                  </a:lnTo>
                  <a:cubicBezTo>
                    <a:pt x="6819900" y="2342515"/>
                    <a:pt x="6755257" y="2407158"/>
                    <a:pt x="6675501" y="2407158"/>
                  </a:cubicBezTo>
                  <a:lnTo>
                    <a:pt x="144399" y="2407158"/>
                  </a:lnTo>
                  <a:cubicBezTo>
                    <a:pt x="64643" y="2407285"/>
                    <a:pt x="0" y="2342642"/>
                    <a:pt x="0" y="2262886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370527" y="5161245"/>
            <a:ext cx="466706" cy="466706"/>
            <a:chOff x="0" y="0"/>
            <a:chExt cx="622275" cy="6222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22275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2B4AC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001949" y="5112506"/>
            <a:ext cx="3789950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Loop budget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0527" y="5689025"/>
            <a:ext cx="440764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MAX_AGENT_STEPS caps tool calls per turn, so no runaway loop.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6774" y="6883251"/>
            <a:ext cx="15968301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5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Failure direction is always chosen: an ambiguous “that would be grand” reads as a non-confirmation, and the assistant asks again.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BEHAVIOUR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Four turns that show the policy working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41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Real transcript fragments - tool call, then the answer the employee sees.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7799222" cy="2519239"/>
            <a:chOff x="0" y="0"/>
            <a:chExt cx="10398963" cy="33589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99014" cy="3359023"/>
            </a:xfrm>
            <a:custGeom>
              <a:avLst/>
              <a:gdLst/>
              <a:ahLst/>
              <a:cxnLst/>
              <a:rect r="r" b="b" t="t" l="l"/>
              <a:pathLst>
                <a:path h="3359023" w="10399014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10197465" y="0"/>
                  </a:lnTo>
                  <a:cubicBezTo>
                    <a:pt x="10308717" y="0"/>
                    <a:pt x="10399014" y="90170"/>
                    <a:pt x="10399014" y="201549"/>
                  </a:cubicBezTo>
                  <a:lnTo>
                    <a:pt x="10399014" y="3157474"/>
                  </a:lnTo>
                  <a:cubicBezTo>
                    <a:pt x="10399014" y="3268726"/>
                    <a:pt x="10308844" y="3359023"/>
                    <a:pt x="10197465" y="3359023"/>
                  </a:cubicBezTo>
                  <a:lnTo>
                    <a:pt x="201549" y="3359023"/>
                  </a:lnTo>
                  <a:cubicBezTo>
                    <a:pt x="90170" y="3359023"/>
                    <a:pt x="0" y="3268726"/>
                    <a:pt x="0" y="3157474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774" y="2772794"/>
            <a:ext cx="7778248" cy="75495"/>
            <a:chOff x="0" y="0"/>
            <a:chExt cx="10370998" cy="100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0947" cy="100711"/>
            </a:xfrm>
            <a:custGeom>
              <a:avLst/>
              <a:gdLst/>
              <a:ahLst/>
              <a:cxnLst/>
              <a:rect r="r" b="b" t="t" l="l"/>
              <a:pathLst>
                <a:path h="100711" w="10370947">
                  <a:moveTo>
                    <a:pt x="0" y="0"/>
                  </a:moveTo>
                  <a:lnTo>
                    <a:pt x="10370947" y="0"/>
                  </a:lnTo>
                  <a:lnTo>
                    <a:pt x="1037094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23667" y="3008109"/>
            <a:ext cx="7091915" cy="42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 b="true">
                <a:solidFill>
                  <a:srgbClr val="0B8A5F"/>
                </a:solidFill>
                <a:latin typeface="Arimo Bold"/>
                <a:ea typeface="Arimo Bold"/>
                <a:cs typeface="Arimo Bold"/>
                <a:sym typeface="Arimo Bold"/>
              </a:rPr>
              <a:t>KNOWLEDGE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3667" y="3410388"/>
            <a:ext cx="7091915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“How do I reset my VPN password?”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3667" y="3980755"/>
            <a:ext cx="7064454" cy="411804"/>
            <a:chOff x="0" y="0"/>
            <a:chExt cx="94192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19210" cy="549021"/>
            </a:xfrm>
            <a:custGeom>
              <a:avLst/>
              <a:gdLst/>
              <a:ahLst/>
              <a:cxnLst/>
              <a:rect r="r" b="b" t="t" l="l"/>
              <a:pathLst>
                <a:path h="549021" w="9419210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9386316" y="0"/>
                  </a:lnTo>
                  <a:cubicBezTo>
                    <a:pt x="9404477" y="0"/>
                    <a:pt x="9419210" y="14732"/>
                    <a:pt x="9419210" y="32893"/>
                  </a:cubicBezTo>
                  <a:lnTo>
                    <a:pt x="9419210" y="516128"/>
                  </a:lnTo>
                  <a:cubicBezTo>
                    <a:pt x="9419210" y="534289"/>
                    <a:pt x="9404477" y="549021"/>
                    <a:pt x="9386316" y="549021"/>
                  </a:cubicBezTo>
                  <a:lnTo>
                    <a:pt x="32893" y="549021"/>
                  </a:lnTo>
                  <a:cubicBezTo>
                    <a:pt x="14732" y="549021"/>
                    <a:pt x="0" y="534289"/>
                    <a:pt x="0" y="516128"/>
                  </a:cubicBezTo>
                  <a:close/>
                </a:path>
              </a:pathLst>
            </a:custGeom>
            <a:solidFill>
              <a:srgbClr val="E4F6E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8382" y="3975849"/>
            <a:ext cx="6817376" cy="3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0B8A5F"/>
                </a:solidFill>
                <a:latin typeface="Arimo"/>
                <a:ea typeface="Arimo"/>
                <a:cs typeface="Arimo"/>
                <a:sym typeface="Arimo"/>
              </a:rPr>
              <a:t>knowledge_search → KB-001 (score 7.78)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3667" y="4453623"/>
            <a:ext cx="7091915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Open portal.sourcify.example/vpn, choose Reset VPN Credentials, clear MFA, set a 14-char password.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46340" y="2762317"/>
            <a:ext cx="7799222" cy="2519239"/>
            <a:chOff x="0" y="0"/>
            <a:chExt cx="10398963" cy="33589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99014" cy="3359023"/>
            </a:xfrm>
            <a:custGeom>
              <a:avLst/>
              <a:gdLst/>
              <a:ahLst/>
              <a:cxnLst/>
              <a:rect r="r" b="b" t="t" l="l"/>
              <a:pathLst>
                <a:path h="3359023" w="10399014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10197465" y="0"/>
                  </a:lnTo>
                  <a:cubicBezTo>
                    <a:pt x="10308717" y="0"/>
                    <a:pt x="10399014" y="90170"/>
                    <a:pt x="10399014" y="201549"/>
                  </a:cubicBezTo>
                  <a:lnTo>
                    <a:pt x="10399014" y="3157474"/>
                  </a:lnTo>
                  <a:cubicBezTo>
                    <a:pt x="10399014" y="3268726"/>
                    <a:pt x="10308844" y="3359023"/>
                    <a:pt x="10197465" y="3359023"/>
                  </a:cubicBezTo>
                  <a:lnTo>
                    <a:pt x="201549" y="3359023"/>
                  </a:lnTo>
                  <a:cubicBezTo>
                    <a:pt x="90170" y="3359023"/>
                    <a:pt x="0" y="3268726"/>
                    <a:pt x="0" y="3157474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56817" y="2772794"/>
            <a:ext cx="7778248" cy="75495"/>
            <a:chOff x="0" y="0"/>
            <a:chExt cx="10370998" cy="100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70947" cy="100711"/>
            </a:xfrm>
            <a:custGeom>
              <a:avLst/>
              <a:gdLst/>
              <a:ahLst/>
              <a:cxnLst/>
              <a:rect r="r" b="b" t="t" l="l"/>
              <a:pathLst>
                <a:path h="100711" w="10370947">
                  <a:moveTo>
                    <a:pt x="0" y="0"/>
                  </a:moveTo>
                  <a:lnTo>
                    <a:pt x="10370947" y="0"/>
                  </a:lnTo>
                  <a:lnTo>
                    <a:pt x="1037094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13719" y="3008109"/>
            <a:ext cx="7091915" cy="42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 b="true">
                <a:solidFill>
                  <a:srgbClr val="B55409"/>
                </a:solidFill>
                <a:latin typeface="Arimo Bold"/>
                <a:ea typeface="Arimo Bold"/>
                <a:cs typeface="Arimo Bold"/>
                <a:sym typeface="Arimo Bold"/>
              </a:rPr>
              <a:t>MISSING INFORMATION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3719" y="3410388"/>
            <a:ext cx="7091915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“Raise a VPN ticket for me.”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13719" y="3980755"/>
            <a:ext cx="7064454" cy="411804"/>
            <a:chOff x="0" y="0"/>
            <a:chExt cx="9419272" cy="54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19210" cy="549021"/>
            </a:xfrm>
            <a:custGeom>
              <a:avLst/>
              <a:gdLst/>
              <a:ahLst/>
              <a:cxnLst/>
              <a:rect r="r" b="b" t="t" l="l"/>
              <a:pathLst>
                <a:path h="549021" w="9419210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9386316" y="0"/>
                  </a:lnTo>
                  <a:cubicBezTo>
                    <a:pt x="9404477" y="0"/>
                    <a:pt x="9419210" y="14732"/>
                    <a:pt x="9419210" y="32893"/>
                  </a:cubicBezTo>
                  <a:lnTo>
                    <a:pt x="9419210" y="516128"/>
                  </a:lnTo>
                  <a:cubicBezTo>
                    <a:pt x="9419210" y="534289"/>
                    <a:pt x="9404477" y="549021"/>
                    <a:pt x="9386316" y="549021"/>
                  </a:cubicBezTo>
                  <a:lnTo>
                    <a:pt x="32893" y="549021"/>
                  </a:lnTo>
                  <a:cubicBezTo>
                    <a:pt x="14732" y="549021"/>
                    <a:pt x="0" y="534289"/>
                    <a:pt x="0" y="516128"/>
                  </a:cubicBezTo>
                  <a:close/>
                </a:path>
              </a:pathLst>
            </a:custGeom>
            <a:solidFill>
              <a:srgbClr val="FDF0E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878435" y="3975849"/>
            <a:ext cx="6817376" cy="3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B55409"/>
                </a:solidFill>
                <a:latin typeface="Arimo"/>
                <a:ea typeface="Arimo"/>
                <a:cs typeface="Arimo"/>
                <a:sym typeface="Arimo"/>
              </a:rPr>
              <a:t>route → clarify   (nothing written)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13719" y="4453623"/>
            <a:ext cx="7091915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I need a few details first: your employee ID, a short subject, and a description of the problem.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6287" y="5576287"/>
            <a:ext cx="7799222" cy="2519239"/>
            <a:chOff x="0" y="0"/>
            <a:chExt cx="10398963" cy="33589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99014" cy="3359023"/>
            </a:xfrm>
            <a:custGeom>
              <a:avLst/>
              <a:gdLst/>
              <a:ahLst/>
              <a:cxnLst/>
              <a:rect r="r" b="b" t="t" l="l"/>
              <a:pathLst>
                <a:path h="3359023" w="10399014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10197465" y="0"/>
                  </a:lnTo>
                  <a:cubicBezTo>
                    <a:pt x="10308717" y="0"/>
                    <a:pt x="10399014" y="90170"/>
                    <a:pt x="10399014" y="201549"/>
                  </a:cubicBezTo>
                  <a:lnTo>
                    <a:pt x="10399014" y="3157474"/>
                  </a:lnTo>
                  <a:cubicBezTo>
                    <a:pt x="10399014" y="3268726"/>
                    <a:pt x="10308844" y="3359023"/>
                    <a:pt x="10197465" y="3359023"/>
                  </a:cubicBezTo>
                  <a:lnTo>
                    <a:pt x="201549" y="3359023"/>
                  </a:lnTo>
                  <a:cubicBezTo>
                    <a:pt x="90170" y="3359023"/>
                    <a:pt x="0" y="3268726"/>
                    <a:pt x="0" y="3157474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6774" y="5586774"/>
            <a:ext cx="7778248" cy="75495"/>
            <a:chOff x="0" y="0"/>
            <a:chExt cx="10370998" cy="1006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70947" cy="100711"/>
            </a:xfrm>
            <a:custGeom>
              <a:avLst/>
              <a:gdLst/>
              <a:ahLst/>
              <a:cxnLst/>
              <a:rect r="r" b="b" t="t" l="l"/>
              <a:pathLst>
                <a:path h="100711" w="10370947">
                  <a:moveTo>
                    <a:pt x="0" y="0"/>
                  </a:moveTo>
                  <a:lnTo>
                    <a:pt x="10370947" y="0"/>
                  </a:lnTo>
                  <a:lnTo>
                    <a:pt x="1037094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33CC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23667" y="5822090"/>
            <a:ext cx="7091915" cy="42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 b="true">
                <a:solidFill>
                  <a:srgbClr val="633CC4"/>
                </a:solidFill>
                <a:latin typeface="Arimo Bold"/>
                <a:ea typeface="Arimo Bold"/>
                <a:cs typeface="Arimo Bold"/>
                <a:sym typeface="Arimo Bold"/>
              </a:rPr>
              <a:t>CONFIRMATION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3667" y="6224368"/>
            <a:ext cx="7091915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“Monitor flickers, raise a ticket. I am EMP1128.”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23667" y="6794725"/>
            <a:ext cx="7064454" cy="411804"/>
            <a:chOff x="0" y="0"/>
            <a:chExt cx="9419272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19210" cy="549021"/>
            </a:xfrm>
            <a:custGeom>
              <a:avLst/>
              <a:gdLst/>
              <a:ahLst/>
              <a:cxnLst/>
              <a:rect r="r" b="b" t="t" l="l"/>
              <a:pathLst>
                <a:path h="549021" w="9419210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9386316" y="0"/>
                  </a:lnTo>
                  <a:cubicBezTo>
                    <a:pt x="9404477" y="0"/>
                    <a:pt x="9419210" y="14732"/>
                    <a:pt x="9419210" y="32893"/>
                  </a:cubicBezTo>
                  <a:lnTo>
                    <a:pt x="9419210" y="516128"/>
                  </a:lnTo>
                  <a:cubicBezTo>
                    <a:pt x="9419210" y="534289"/>
                    <a:pt x="9404477" y="549021"/>
                    <a:pt x="9386316" y="549021"/>
                  </a:cubicBezTo>
                  <a:lnTo>
                    <a:pt x="32893" y="549021"/>
                  </a:lnTo>
                  <a:cubicBezTo>
                    <a:pt x="14732" y="549021"/>
                    <a:pt x="0" y="534289"/>
                    <a:pt x="0" y="516128"/>
                  </a:cubicBezTo>
                  <a:close/>
                </a:path>
              </a:pathLst>
            </a:custGeom>
            <a:solidFill>
              <a:srgbClr val="F0EBF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88382" y="6789820"/>
            <a:ext cx="6817376" cy="3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633CC4"/>
                </a:solidFill>
                <a:latin typeface="Arimo"/>
                <a:ea typeface="Arimo"/>
                <a:cs typeface="Arimo"/>
                <a:sym typeface="Arimo"/>
              </a:rPr>
              <a:t>route → confirm   (draft held)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23667" y="7267594"/>
            <a:ext cx="7091915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Confirm: EMP1128 · Hardware · “Monitor flickering constantly”. Shall I go ahead?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46340" y="5576287"/>
            <a:ext cx="7799222" cy="2519239"/>
            <a:chOff x="0" y="0"/>
            <a:chExt cx="10398963" cy="33589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99014" cy="3359023"/>
            </a:xfrm>
            <a:custGeom>
              <a:avLst/>
              <a:gdLst/>
              <a:ahLst/>
              <a:cxnLst/>
              <a:rect r="r" b="b" t="t" l="l"/>
              <a:pathLst>
                <a:path h="3359023" w="10399014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10197465" y="0"/>
                  </a:lnTo>
                  <a:cubicBezTo>
                    <a:pt x="10308717" y="0"/>
                    <a:pt x="10399014" y="90170"/>
                    <a:pt x="10399014" y="201549"/>
                  </a:cubicBezTo>
                  <a:lnTo>
                    <a:pt x="10399014" y="3157474"/>
                  </a:lnTo>
                  <a:cubicBezTo>
                    <a:pt x="10399014" y="3268726"/>
                    <a:pt x="10308844" y="3359023"/>
                    <a:pt x="10197465" y="3359023"/>
                  </a:cubicBezTo>
                  <a:lnTo>
                    <a:pt x="201549" y="3359023"/>
                  </a:lnTo>
                  <a:cubicBezTo>
                    <a:pt x="90170" y="3359023"/>
                    <a:pt x="0" y="3268726"/>
                    <a:pt x="0" y="3157474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356817" y="5586774"/>
            <a:ext cx="7778248" cy="75495"/>
            <a:chOff x="0" y="0"/>
            <a:chExt cx="10370998" cy="1006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70947" cy="100711"/>
            </a:xfrm>
            <a:custGeom>
              <a:avLst/>
              <a:gdLst/>
              <a:ahLst/>
              <a:cxnLst/>
              <a:rect r="r" b="b" t="t" l="l"/>
              <a:pathLst>
                <a:path h="100711" w="10370947">
                  <a:moveTo>
                    <a:pt x="0" y="0"/>
                  </a:moveTo>
                  <a:lnTo>
                    <a:pt x="10370947" y="0"/>
                  </a:lnTo>
                  <a:lnTo>
                    <a:pt x="1037094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713719" y="5822090"/>
            <a:ext cx="7091915" cy="42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0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DUPLICATE SUPPRESSION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13719" y="6224368"/>
            <a:ext cx="7091915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“Outlook is broken again, raise a ticket. EMP1042.”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13719" y="6794725"/>
            <a:ext cx="7064454" cy="411804"/>
            <a:chOff x="0" y="0"/>
            <a:chExt cx="9419272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19210" cy="549021"/>
            </a:xfrm>
            <a:custGeom>
              <a:avLst/>
              <a:gdLst/>
              <a:ahLst/>
              <a:cxnLst/>
              <a:rect r="r" b="b" t="t" l="l"/>
              <a:pathLst>
                <a:path h="549021" w="9419210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9386316" y="0"/>
                  </a:lnTo>
                  <a:cubicBezTo>
                    <a:pt x="9404477" y="0"/>
                    <a:pt x="9419210" y="14732"/>
                    <a:pt x="9419210" y="32893"/>
                  </a:cubicBezTo>
                  <a:lnTo>
                    <a:pt x="9419210" y="516128"/>
                  </a:lnTo>
                  <a:cubicBezTo>
                    <a:pt x="9419210" y="534289"/>
                    <a:pt x="9404477" y="549021"/>
                    <a:pt x="9386316" y="549021"/>
                  </a:cubicBezTo>
                  <a:lnTo>
                    <a:pt x="32893" y="549021"/>
                  </a:lnTo>
                  <a:cubicBezTo>
                    <a:pt x="14732" y="549021"/>
                    <a:pt x="0" y="534289"/>
                    <a:pt x="0" y="516128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878435" y="6789820"/>
            <a:ext cx="6817376" cy="3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576">
                <a:solidFill>
                  <a:srgbClr val="2B4ACB"/>
                </a:solidFill>
                <a:latin typeface="Arimo"/>
                <a:ea typeface="Arimo"/>
                <a:cs typeface="Arimo"/>
                <a:sym typeface="Arimo"/>
              </a:rPr>
              <a:t>create_ticket → created: false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13719" y="7267594"/>
            <a:ext cx="7091915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You already have an open Email ticket, INC-10004, with the Messaging Team. I have not raised a second one.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Stack, and why each piece was chosen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Every choice optimised for a project that must run and be inspected without a network.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6774" y="2772794"/>
            <a:ext cx="15968301" cy="576520"/>
            <a:chOff x="0" y="0"/>
            <a:chExt cx="21291067" cy="768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91042" cy="768731"/>
            </a:xfrm>
            <a:custGeom>
              <a:avLst/>
              <a:gdLst/>
              <a:ahLst/>
              <a:cxnLst/>
              <a:rect r="r" b="b" t="t" l="l"/>
              <a:pathLst>
                <a:path h="768731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8941" y="2820143"/>
            <a:ext cx="2310803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44283" y="2820143"/>
            <a:ext cx="6416945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CHOICE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35767" y="2820143"/>
            <a:ext cx="6416945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WHY</a:t>
            </a:r>
          </a:p>
        </p:txBody>
      </p:sp>
      <p:sp>
        <p:nvSpPr>
          <p:cNvPr name="AutoShape 13" id="13"/>
          <p:cNvSpPr/>
          <p:nvPr/>
        </p:nvSpPr>
        <p:spPr>
          <a:xfrm rot="3060">
            <a:off x="1159621" y="334456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358941" y="3396663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Orchestration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44283" y="3396663"/>
            <a:ext cx="6416945" cy="34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LangGraph - StateGraph, conditional edges, SqliteSaver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5767" y="3396663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Policy becomes a visible node, not a prompt line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6774" y="4035657"/>
            <a:ext cx="15968301" cy="686333"/>
            <a:chOff x="0" y="0"/>
            <a:chExt cx="21291067" cy="915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91042" cy="915162"/>
            </a:xfrm>
            <a:custGeom>
              <a:avLst/>
              <a:gdLst/>
              <a:ahLst/>
              <a:cxnLst/>
              <a:rect r="r" b="b" t="t" l="l"/>
              <a:pathLst>
                <a:path h="915162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19" id="19"/>
          <p:cNvSpPr/>
          <p:nvPr/>
        </p:nvSpPr>
        <p:spPr>
          <a:xfrm rot="3060">
            <a:off x="1159621" y="4030894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58941" y="4082996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LLM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44283" y="4082996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Ollama qwen3.5:4b-mlx (default) / Anthropic Claude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35767" y="4082996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Runs with no API key; provider is a one-line switch</a:t>
            </a:r>
          </a:p>
        </p:txBody>
      </p:sp>
      <p:sp>
        <p:nvSpPr>
          <p:cNvPr name="AutoShape 23" id="23"/>
          <p:cNvSpPr/>
          <p:nvPr/>
        </p:nvSpPr>
        <p:spPr>
          <a:xfrm rot="3060">
            <a:off x="1159621" y="4717228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358941" y="4769329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Tool calling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44283" y="4769329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langchain-core tools, native function calling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35767" y="4769329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Typed args, no prompt-parsed JSON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6774" y="5408333"/>
            <a:ext cx="15968301" cy="686333"/>
            <a:chOff x="0" y="0"/>
            <a:chExt cx="21291067" cy="915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91042" cy="915162"/>
            </a:xfrm>
            <a:custGeom>
              <a:avLst/>
              <a:gdLst/>
              <a:ahLst/>
              <a:cxnLst/>
              <a:rect r="r" b="b" t="t" l="l"/>
              <a:pathLst>
                <a:path h="915162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29" id="29"/>
          <p:cNvSpPr/>
          <p:nvPr/>
        </p:nvSpPr>
        <p:spPr>
          <a:xfrm rot="3060">
            <a:off x="1159621" y="540357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358941" y="5455672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Retrieval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44283" y="5455672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BM25 in pure Python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35767" y="5455672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15 articles need no vector store; deterministic and inspectable</a:t>
            </a:r>
          </a:p>
        </p:txBody>
      </p:sp>
      <p:sp>
        <p:nvSpPr>
          <p:cNvPr name="AutoShape 33" id="33"/>
          <p:cNvSpPr/>
          <p:nvPr/>
        </p:nvSpPr>
        <p:spPr>
          <a:xfrm rot="3060">
            <a:off x="1159621" y="6089904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58941" y="6142006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Storage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44283" y="6142006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SQLite, seeded from JSON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35767" y="6142006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Zero setup, real SQL for the duplicate check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6774" y="6781000"/>
            <a:ext cx="15968301" cy="686333"/>
            <a:chOff x="0" y="0"/>
            <a:chExt cx="21291067" cy="915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91042" cy="915162"/>
            </a:xfrm>
            <a:custGeom>
              <a:avLst/>
              <a:gdLst/>
              <a:ahLst/>
              <a:cxnLst/>
              <a:rect r="r" b="b" t="t" l="l"/>
              <a:pathLst>
                <a:path h="915162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39" id="39"/>
          <p:cNvSpPr/>
          <p:nvPr/>
        </p:nvSpPr>
        <p:spPr>
          <a:xfrm rot="3060">
            <a:off x="1159621" y="6776237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358941" y="6828339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UI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44283" y="6828339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Streamlit chat + read-only browse module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35767" y="6828339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Browsing is a human activity; it bypasses the model</a:t>
            </a:r>
          </a:p>
        </p:txBody>
      </p:sp>
      <p:sp>
        <p:nvSpPr>
          <p:cNvPr name="AutoShape 43" id="43"/>
          <p:cNvSpPr/>
          <p:nvPr/>
        </p:nvSpPr>
        <p:spPr>
          <a:xfrm rot="3060">
            <a:off x="1159621" y="746257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358941" y="7514673"/>
            <a:ext cx="2310803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Config / tests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44283" y="7514673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pydantic-settings + .env; pytest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35767" y="7514673"/>
            <a:ext cx="6416945" cy="6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65 tests, no network, no API key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56287" y="8623621"/>
            <a:ext cx="7799222" cy="1599543"/>
            <a:chOff x="0" y="0"/>
            <a:chExt cx="10398963" cy="21327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99014" cy="2132838"/>
            </a:xfrm>
            <a:custGeom>
              <a:avLst/>
              <a:gdLst/>
              <a:ahLst/>
              <a:cxnLst/>
              <a:rect r="r" b="b" t="t" l="l"/>
              <a:pathLst>
                <a:path h="2132838" w="1039901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270998" y="0"/>
                  </a:lnTo>
                  <a:cubicBezTo>
                    <a:pt x="10341610" y="0"/>
                    <a:pt x="10399014" y="57277"/>
                    <a:pt x="10399014" y="128016"/>
                  </a:cubicBezTo>
                  <a:lnTo>
                    <a:pt x="10399014" y="2004822"/>
                  </a:lnTo>
                  <a:cubicBezTo>
                    <a:pt x="10399014" y="2075434"/>
                    <a:pt x="10341737" y="2132838"/>
                    <a:pt x="10270998" y="2132838"/>
                  </a:cubicBezTo>
                  <a:lnTo>
                    <a:pt x="128016" y="2132838"/>
                  </a:lnTo>
                  <a:cubicBezTo>
                    <a:pt x="57277" y="2132711"/>
                    <a:pt x="0" y="2075434"/>
                    <a:pt x="0" y="2004822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66774" y="8634108"/>
            <a:ext cx="102946" cy="1578569"/>
            <a:chOff x="0" y="0"/>
            <a:chExt cx="137262" cy="21047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28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633CC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523667" y="8822922"/>
            <a:ext cx="7064454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LangGraph over a plain tool loop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23667" y="9326604"/>
            <a:ext cx="7064454" cy="69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The interesting logic is not “call a tool”,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it is “refuse to call this tool yet”.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46340" y="8623621"/>
            <a:ext cx="7799222" cy="1599543"/>
            <a:chOff x="0" y="0"/>
            <a:chExt cx="10398963" cy="21327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99014" cy="2132838"/>
            </a:xfrm>
            <a:custGeom>
              <a:avLst/>
              <a:gdLst/>
              <a:ahLst/>
              <a:cxnLst/>
              <a:rect r="r" b="b" t="t" l="l"/>
              <a:pathLst>
                <a:path h="2132838" w="1039901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270998" y="0"/>
                  </a:lnTo>
                  <a:cubicBezTo>
                    <a:pt x="10341610" y="0"/>
                    <a:pt x="10399014" y="57277"/>
                    <a:pt x="10399014" y="128016"/>
                  </a:cubicBezTo>
                  <a:lnTo>
                    <a:pt x="10399014" y="2004822"/>
                  </a:lnTo>
                  <a:cubicBezTo>
                    <a:pt x="10399014" y="2075434"/>
                    <a:pt x="10341737" y="2132838"/>
                    <a:pt x="10270998" y="2132838"/>
                  </a:cubicBezTo>
                  <a:lnTo>
                    <a:pt x="128016" y="2132838"/>
                  </a:lnTo>
                  <a:cubicBezTo>
                    <a:pt x="57277" y="2132711"/>
                    <a:pt x="0" y="2075434"/>
                    <a:pt x="0" y="2004822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356817" y="8634108"/>
            <a:ext cx="102946" cy="1578569"/>
            <a:chOff x="0" y="0"/>
            <a:chExt cx="137262" cy="21047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28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37287">
                  <a:moveTo>
                    <a:pt x="0" y="0"/>
                  </a:moveTo>
                  <a:lnTo>
                    <a:pt x="137287" y="0"/>
                  </a:lnTo>
                  <a:lnTo>
                    <a:pt x="13728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9713719" y="8822922"/>
            <a:ext cx="7064454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BM25 over embeddings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13719" y="9326604"/>
            <a:ext cx="7064454" cy="69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No dependency, no API cost, no drift — and a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relevance floor turns weak matches into “no match”.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A workspace built for an evaluator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Three columns: the session, the conversation, and the raw data the assistant works from.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5114954" cy="3452651"/>
            <a:chOff x="0" y="0"/>
            <a:chExt cx="6819938" cy="4603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19900" cy="4603496"/>
            </a:xfrm>
            <a:custGeom>
              <a:avLst/>
              <a:gdLst/>
              <a:ahLst/>
              <a:cxnLst/>
              <a:rect r="r" b="b" t="t" l="l"/>
              <a:pathLst>
                <a:path h="4603496" w="681990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6543675" y="0"/>
                  </a:lnTo>
                  <a:cubicBezTo>
                    <a:pt x="6696329" y="0"/>
                    <a:pt x="6819900" y="123698"/>
                    <a:pt x="6819900" y="276225"/>
                  </a:cubicBezTo>
                  <a:lnTo>
                    <a:pt x="6819900" y="4327271"/>
                  </a:lnTo>
                  <a:cubicBezTo>
                    <a:pt x="6819900" y="4479798"/>
                    <a:pt x="6696202" y="4603496"/>
                    <a:pt x="6543675" y="4603496"/>
                  </a:cubicBezTo>
                  <a:lnTo>
                    <a:pt x="276225" y="4603496"/>
                  </a:lnTo>
                  <a:cubicBezTo>
                    <a:pt x="123698" y="4603496"/>
                    <a:pt x="0" y="4479925"/>
                    <a:pt x="0" y="43272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774" y="2772794"/>
            <a:ext cx="5093989" cy="102946"/>
            <a:chOff x="0" y="0"/>
            <a:chExt cx="6791985" cy="137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91960" cy="137287"/>
            </a:xfrm>
            <a:custGeom>
              <a:avLst/>
              <a:gdLst/>
              <a:ahLst/>
              <a:cxnLst/>
              <a:rect r="r" b="b" t="t" l="l"/>
              <a:pathLst>
                <a:path h="137287" w="6791960">
                  <a:moveTo>
                    <a:pt x="0" y="0"/>
                  </a:moveTo>
                  <a:lnTo>
                    <a:pt x="6791960" y="0"/>
                  </a:lnTo>
                  <a:lnTo>
                    <a:pt x="6791960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47526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51118" y="3071422"/>
            <a:ext cx="4325293" cy="49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Left — session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1118" y="3684918"/>
            <a:ext cx="4325293" cy="240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Active model and thread ID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Clear conversation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Four sample prompts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 The five reachable tools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93443" y="2762317"/>
            <a:ext cx="5114954" cy="3452651"/>
            <a:chOff x="0" y="0"/>
            <a:chExt cx="6819938" cy="46035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19900" cy="4603496"/>
            </a:xfrm>
            <a:custGeom>
              <a:avLst/>
              <a:gdLst/>
              <a:ahLst/>
              <a:cxnLst/>
              <a:rect r="r" b="b" t="t" l="l"/>
              <a:pathLst>
                <a:path h="4603496" w="681990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6543675" y="0"/>
                  </a:lnTo>
                  <a:cubicBezTo>
                    <a:pt x="6696329" y="0"/>
                    <a:pt x="6819900" y="123698"/>
                    <a:pt x="6819900" y="276225"/>
                  </a:cubicBezTo>
                  <a:lnTo>
                    <a:pt x="6819900" y="4327271"/>
                  </a:lnTo>
                  <a:cubicBezTo>
                    <a:pt x="6819900" y="4479798"/>
                    <a:pt x="6696202" y="4603496"/>
                    <a:pt x="6543675" y="4603496"/>
                  </a:cubicBezTo>
                  <a:lnTo>
                    <a:pt x="276225" y="4603496"/>
                  </a:lnTo>
                  <a:cubicBezTo>
                    <a:pt x="123698" y="4603496"/>
                    <a:pt x="0" y="4479925"/>
                    <a:pt x="0" y="43272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603930" y="2772794"/>
            <a:ext cx="5093989" cy="102946"/>
            <a:chOff x="0" y="0"/>
            <a:chExt cx="6791985" cy="1372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91960" cy="137287"/>
            </a:xfrm>
            <a:custGeom>
              <a:avLst/>
              <a:gdLst/>
              <a:ahLst/>
              <a:cxnLst/>
              <a:rect r="r" b="b" t="t" l="l"/>
              <a:pathLst>
                <a:path h="137287" w="6791960">
                  <a:moveTo>
                    <a:pt x="0" y="0"/>
                  </a:moveTo>
                  <a:lnTo>
                    <a:pt x="6791960" y="0"/>
                  </a:lnTo>
                  <a:lnTo>
                    <a:pt x="6791960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88273" y="3071422"/>
            <a:ext cx="4325293" cy="49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Middle — conversation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8666" y="3607051"/>
            <a:ext cx="4325293" cy="239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Identity banner: who the assistant thinks it is helping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EMP#### and INC-##### highlighted inline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Touched tickets as status/priority chip cards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Expandable trace: every call + raw JSON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30599" y="2762317"/>
            <a:ext cx="5114954" cy="3452651"/>
            <a:chOff x="0" y="0"/>
            <a:chExt cx="6819938" cy="46035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19900" cy="4603496"/>
            </a:xfrm>
            <a:custGeom>
              <a:avLst/>
              <a:gdLst/>
              <a:ahLst/>
              <a:cxnLst/>
              <a:rect r="r" b="b" t="t" l="l"/>
              <a:pathLst>
                <a:path h="4603496" w="681990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6543675" y="0"/>
                  </a:lnTo>
                  <a:cubicBezTo>
                    <a:pt x="6696329" y="0"/>
                    <a:pt x="6819900" y="123698"/>
                    <a:pt x="6819900" y="276225"/>
                  </a:cubicBezTo>
                  <a:lnTo>
                    <a:pt x="6819900" y="4327271"/>
                  </a:lnTo>
                  <a:cubicBezTo>
                    <a:pt x="6819900" y="4479798"/>
                    <a:pt x="6696202" y="4603496"/>
                    <a:pt x="6543675" y="4603496"/>
                  </a:cubicBezTo>
                  <a:lnTo>
                    <a:pt x="276225" y="4603496"/>
                  </a:lnTo>
                  <a:cubicBezTo>
                    <a:pt x="123698" y="4603496"/>
                    <a:pt x="0" y="4479925"/>
                    <a:pt x="0" y="4327271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41076" y="2772794"/>
            <a:ext cx="5093989" cy="102946"/>
            <a:chOff x="0" y="0"/>
            <a:chExt cx="6791985" cy="1372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137287"/>
            </a:xfrm>
            <a:custGeom>
              <a:avLst/>
              <a:gdLst/>
              <a:ahLst/>
              <a:cxnLst/>
              <a:rect r="r" b="b" t="t" l="l"/>
              <a:pathLst>
                <a:path h="137287" w="6791960">
                  <a:moveTo>
                    <a:pt x="0" y="0"/>
                  </a:moveTo>
                  <a:lnTo>
                    <a:pt x="6791960" y="0"/>
                  </a:lnTo>
                  <a:lnTo>
                    <a:pt x="6791960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25429" y="3071422"/>
            <a:ext cx="4325293" cy="49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2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Right — the local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5429" y="3684918"/>
            <a:ext cx="4325293" cy="205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Knowledge base: 15 articles, live BM25 filter, scores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Tickets: status counters, filter by status/category</a:t>
            </a:r>
          </a:p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Directory &amp; status: 12 employees, 6 services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6616284"/>
            <a:ext cx="15968301" cy="1441304"/>
            <a:chOff x="0" y="0"/>
            <a:chExt cx="21291067" cy="19217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291043" cy="1921764"/>
            </a:xfrm>
            <a:custGeom>
              <a:avLst/>
              <a:gdLst/>
              <a:ahLst/>
              <a:cxnLst/>
              <a:rect r="r" b="b" t="t" l="l"/>
              <a:pathLst>
                <a:path h="1921764" w="21291043">
                  <a:moveTo>
                    <a:pt x="0" y="115316"/>
                  </a:moveTo>
                  <a:cubicBezTo>
                    <a:pt x="0" y="51562"/>
                    <a:pt x="51562" y="0"/>
                    <a:pt x="115316" y="0"/>
                  </a:cubicBezTo>
                  <a:lnTo>
                    <a:pt x="21175726" y="0"/>
                  </a:lnTo>
                  <a:cubicBezTo>
                    <a:pt x="21239353" y="0"/>
                    <a:pt x="21291043" y="51562"/>
                    <a:pt x="21291043" y="115316"/>
                  </a:cubicBezTo>
                  <a:lnTo>
                    <a:pt x="21291043" y="1806448"/>
                  </a:lnTo>
                  <a:cubicBezTo>
                    <a:pt x="21291043" y="1870075"/>
                    <a:pt x="21239480" y="1921764"/>
                    <a:pt x="21175726" y="1921764"/>
                  </a:cubicBezTo>
                  <a:lnTo>
                    <a:pt x="115316" y="1921764"/>
                  </a:lnTo>
                  <a:cubicBezTo>
                    <a:pt x="51689" y="1921764"/>
                    <a:pt x="0" y="1870202"/>
                    <a:pt x="0" y="1806448"/>
                  </a:cubicBezTo>
                  <a:close/>
                </a:path>
              </a:pathLst>
            </a:custGeom>
            <a:solidFill>
              <a:srgbClr val="E8EDF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47206" y="6787163"/>
            <a:ext cx="15007428" cy="109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Provenance, not trust</a:t>
            </a:r>
          </a:p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111827"/>
                </a:solidFill>
                <a:latin typeface="Arimo"/>
                <a:ea typeface="Arimo"/>
                <a:cs typeface="Arimo"/>
                <a:sym typeface="Arimo"/>
              </a:rPr>
              <a:t>A claim in an answer can be checked against the source table without leaving the page - retrieved facts are visibly separate from the model's own recommendation.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VERIFICATION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65 tests, and they run anywhere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A temporary database and a scripted stand-in for the model: no Ollama, no API key, no network.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3589915" cy="1640729"/>
            <a:chOff x="0" y="0"/>
            <a:chExt cx="4786554" cy="21876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86630" cy="2187702"/>
            </a:xfrm>
            <a:custGeom>
              <a:avLst/>
              <a:gdLst/>
              <a:ahLst/>
              <a:cxnLst/>
              <a:rect r="r" b="b" t="t" l="l"/>
              <a:pathLst>
                <a:path h="2187702" w="478663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4655312" y="0"/>
                  </a:lnTo>
                  <a:cubicBezTo>
                    <a:pt x="4727829" y="0"/>
                    <a:pt x="4786630" y="58801"/>
                    <a:pt x="4786630" y="131318"/>
                  </a:cubicBezTo>
                  <a:lnTo>
                    <a:pt x="4786630" y="2056384"/>
                  </a:lnTo>
                  <a:cubicBezTo>
                    <a:pt x="4786630" y="2128901"/>
                    <a:pt x="4727829" y="2187702"/>
                    <a:pt x="4655312" y="2187702"/>
                  </a:cubicBezTo>
                  <a:lnTo>
                    <a:pt x="131318" y="2187702"/>
                  </a:lnTo>
                  <a:cubicBezTo>
                    <a:pt x="58801" y="2187575"/>
                    <a:pt x="0" y="2128901"/>
                    <a:pt x="0" y="2056384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41304" y="2820972"/>
            <a:ext cx="3019882" cy="8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7"/>
              </a:lnSpc>
            </a:pPr>
            <a:r>
              <a:rPr lang="en-US" sz="4503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65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1304" y="3684918"/>
            <a:ext cx="3019882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tests passing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068405" y="2762317"/>
            <a:ext cx="3589915" cy="1640729"/>
            <a:chOff x="0" y="0"/>
            <a:chExt cx="4786554" cy="2187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86630" cy="2187702"/>
            </a:xfrm>
            <a:custGeom>
              <a:avLst/>
              <a:gdLst/>
              <a:ahLst/>
              <a:cxnLst/>
              <a:rect r="r" b="b" t="t" l="l"/>
              <a:pathLst>
                <a:path h="2187702" w="478663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4655312" y="0"/>
                  </a:lnTo>
                  <a:cubicBezTo>
                    <a:pt x="4727829" y="0"/>
                    <a:pt x="4786630" y="58801"/>
                    <a:pt x="4786630" y="131318"/>
                  </a:cubicBezTo>
                  <a:lnTo>
                    <a:pt x="4786630" y="2056384"/>
                  </a:lnTo>
                  <a:cubicBezTo>
                    <a:pt x="4786630" y="2128901"/>
                    <a:pt x="4727829" y="2187702"/>
                    <a:pt x="4655312" y="2187702"/>
                  </a:cubicBezTo>
                  <a:lnTo>
                    <a:pt x="131318" y="2187702"/>
                  </a:lnTo>
                  <a:cubicBezTo>
                    <a:pt x="58801" y="2187575"/>
                    <a:pt x="0" y="2128901"/>
                    <a:pt x="0" y="2056384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353421" y="2820972"/>
            <a:ext cx="3019882" cy="8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7"/>
              </a:lnSpc>
            </a:pPr>
            <a:r>
              <a:rPr lang="en-US" sz="4503" b="true">
                <a:solidFill>
                  <a:srgbClr val="0B8A5F"/>
                </a:solidFill>
                <a:latin typeface="Arimo Bold"/>
                <a:ea typeface="Arimo Bold"/>
                <a:cs typeface="Arimo Bold"/>
                <a:sym typeface="Arimo Bold"/>
              </a:rPr>
              <a:t>2.0s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53421" y="3684918"/>
            <a:ext cx="3019882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full suite runtime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80522" y="2762317"/>
            <a:ext cx="3589915" cy="1640729"/>
            <a:chOff x="0" y="0"/>
            <a:chExt cx="4786554" cy="21876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86630" cy="2187702"/>
            </a:xfrm>
            <a:custGeom>
              <a:avLst/>
              <a:gdLst/>
              <a:ahLst/>
              <a:cxnLst/>
              <a:rect r="r" b="b" t="t" l="l"/>
              <a:pathLst>
                <a:path h="2187702" w="478663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4655312" y="0"/>
                  </a:lnTo>
                  <a:cubicBezTo>
                    <a:pt x="4727829" y="0"/>
                    <a:pt x="4786630" y="58801"/>
                    <a:pt x="4786630" y="131318"/>
                  </a:cubicBezTo>
                  <a:lnTo>
                    <a:pt x="4786630" y="2056384"/>
                  </a:lnTo>
                  <a:cubicBezTo>
                    <a:pt x="4786630" y="2128901"/>
                    <a:pt x="4727829" y="2187702"/>
                    <a:pt x="4655312" y="2187702"/>
                  </a:cubicBezTo>
                  <a:lnTo>
                    <a:pt x="131318" y="2187702"/>
                  </a:lnTo>
                  <a:cubicBezTo>
                    <a:pt x="58801" y="2187575"/>
                    <a:pt x="0" y="2128901"/>
                    <a:pt x="0" y="2056384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265539" y="2820972"/>
            <a:ext cx="3019882" cy="8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7"/>
              </a:lnSpc>
            </a:pPr>
            <a:r>
              <a:rPr lang="en-US" sz="4503" b="true">
                <a:solidFill>
                  <a:srgbClr val="633CC4"/>
                </a:solidFill>
                <a:latin typeface="Arimo Bold"/>
                <a:ea typeface="Arimo Bold"/>
                <a:cs typeface="Arimo Bold"/>
                <a:sym typeface="Arimo Bold"/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5539" y="3684918"/>
            <a:ext cx="3019882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network calls required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892630" y="2762317"/>
            <a:ext cx="4252922" cy="1640729"/>
            <a:chOff x="0" y="0"/>
            <a:chExt cx="5670563" cy="21876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70677" cy="2187702"/>
            </a:xfrm>
            <a:custGeom>
              <a:avLst/>
              <a:gdLst/>
              <a:ahLst/>
              <a:cxnLst/>
              <a:rect r="r" b="b" t="t" l="l"/>
              <a:pathLst>
                <a:path h="2187702" w="5670677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5539359" y="0"/>
                  </a:lnTo>
                  <a:cubicBezTo>
                    <a:pt x="5611876" y="0"/>
                    <a:pt x="5670677" y="58801"/>
                    <a:pt x="5670677" y="131318"/>
                  </a:cubicBezTo>
                  <a:lnTo>
                    <a:pt x="5670677" y="2056384"/>
                  </a:lnTo>
                  <a:cubicBezTo>
                    <a:pt x="5670677" y="2128901"/>
                    <a:pt x="5611876" y="2187702"/>
                    <a:pt x="5539359" y="2187702"/>
                  </a:cubicBezTo>
                  <a:lnTo>
                    <a:pt x="131318" y="2187702"/>
                  </a:lnTo>
                  <a:cubicBezTo>
                    <a:pt x="58801" y="2187575"/>
                    <a:pt x="0" y="2128901"/>
                    <a:pt x="0" y="2056384"/>
                  </a:cubicBezTo>
                  <a:close/>
                </a:path>
              </a:pathLst>
            </a:custGeom>
            <a:solidFill>
              <a:srgbClr val="F3F6FB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177657" y="2820972"/>
            <a:ext cx="3682879" cy="8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7"/>
              </a:lnSpc>
            </a:pPr>
            <a:r>
              <a:rPr lang="en-US" sz="4503" b="true">
                <a:solidFill>
                  <a:srgbClr val="B55409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7657" y="3684918"/>
            <a:ext cx="3682879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routing branches covered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4" y="4831804"/>
            <a:ext cx="15968301" cy="576520"/>
            <a:chOff x="0" y="0"/>
            <a:chExt cx="21291067" cy="768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91042" cy="768731"/>
            </a:xfrm>
            <a:custGeom>
              <a:avLst/>
              <a:gdLst/>
              <a:ahLst/>
              <a:cxnLst/>
              <a:rect r="r" b="b" t="t" l="l"/>
              <a:pathLst>
                <a:path h="768731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58941" y="4879143"/>
            <a:ext cx="2411720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AREA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45201" y="4879143"/>
            <a:ext cx="13007511" cy="51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WHAT IS COVERED</a:t>
            </a:r>
          </a:p>
        </p:txBody>
      </p:sp>
      <p:sp>
        <p:nvSpPr>
          <p:cNvPr name="AutoShape 28" id="28"/>
          <p:cNvSpPr/>
          <p:nvPr/>
        </p:nvSpPr>
        <p:spPr>
          <a:xfrm rot="3060">
            <a:off x="1159621" y="5403571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358941" y="5446147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Retrieval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45201" y="5446147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BM25 ranking and the relevance floor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66774" y="6039755"/>
            <a:ext cx="15968301" cy="631431"/>
            <a:chOff x="0" y="0"/>
            <a:chExt cx="21291067" cy="8419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91042" cy="841883"/>
            </a:xfrm>
            <a:custGeom>
              <a:avLst/>
              <a:gdLst/>
              <a:ahLst/>
              <a:cxnLst/>
              <a:rect r="r" b="b" t="t" l="l"/>
              <a:pathLst>
                <a:path h="841883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33" id="33"/>
          <p:cNvSpPr/>
          <p:nvPr/>
        </p:nvSpPr>
        <p:spPr>
          <a:xfrm rot="3060">
            <a:off x="1159621" y="6034992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58941" y="6077579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Tools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45201" y="6077579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All five, plus validation and duplicate rules, plus induced failures</a:t>
            </a:r>
          </a:p>
        </p:txBody>
      </p:sp>
      <p:sp>
        <p:nvSpPr>
          <p:cNvPr name="AutoShape 36" id="36"/>
          <p:cNvSpPr/>
          <p:nvPr/>
        </p:nvSpPr>
        <p:spPr>
          <a:xfrm rot="3060">
            <a:off x="1159621" y="6666424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358941" y="6709000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Routing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45201" y="6709000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Every branch of route_after_agent and route_after_validate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66774" y="7302617"/>
            <a:ext cx="15968301" cy="631431"/>
            <a:chOff x="0" y="0"/>
            <a:chExt cx="21291067" cy="8419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91042" cy="841883"/>
            </a:xfrm>
            <a:custGeom>
              <a:avLst/>
              <a:gdLst/>
              <a:ahLst/>
              <a:cxnLst/>
              <a:rect r="r" b="b" t="t" l="l"/>
              <a:pathLst>
                <a:path h="841883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41" id="41"/>
          <p:cNvSpPr/>
          <p:nvPr/>
        </p:nvSpPr>
        <p:spPr>
          <a:xfrm rot="3060">
            <a:off x="1159621" y="7297855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58941" y="7340432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Memory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45201" y="7340432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Slot retention across turns; what is dropped on an employee switch</a:t>
            </a:r>
          </a:p>
        </p:txBody>
      </p:sp>
      <p:sp>
        <p:nvSpPr>
          <p:cNvPr name="AutoShape 44" id="44"/>
          <p:cNvSpPr/>
          <p:nvPr/>
        </p:nvSpPr>
        <p:spPr>
          <a:xfrm rot="3060">
            <a:off x="1159621" y="7929286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358941" y="7971863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Gates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45201" y="7971863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Both confirmation paths; empty and oversized input; a model outage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66774" y="8565480"/>
            <a:ext cx="15968301" cy="631431"/>
            <a:chOff x="0" y="0"/>
            <a:chExt cx="21291067" cy="8419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91042" cy="841883"/>
            </a:xfrm>
            <a:custGeom>
              <a:avLst/>
              <a:gdLst/>
              <a:ahLst/>
              <a:cxnLst/>
              <a:rect r="r" b="b" t="t" l="l"/>
              <a:pathLst>
                <a:path h="841883" w="21291042">
                  <a:moveTo>
                    <a:pt x="0" y="0"/>
                  </a:moveTo>
                  <a:lnTo>
                    <a:pt x="21291042" y="0"/>
                  </a:lnTo>
                  <a:lnTo>
                    <a:pt x="21291042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F3F6FB"/>
            </a:solidFill>
          </p:spPr>
        </p:sp>
      </p:grpSp>
      <p:sp>
        <p:nvSpPr>
          <p:cNvPr name="AutoShape 49" id="49"/>
          <p:cNvSpPr/>
          <p:nvPr/>
        </p:nvSpPr>
        <p:spPr>
          <a:xfrm rot="3060">
            <a:off x="1159621" y="8560718"/>
            <a:ext cx="15982607" cy="0"/>
          </a:xfrm>
          <a:prstGeom prst="line">
            <a:avLst/>
          </a:prstGeom>
          <a:ln cap="rnd" w="9525">
            <a:solidFill>
              <a:srgbClr val="DD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358941" y="8603294"/>
            <a:ext cx="2411720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UI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045201" y="8603294"/>
            <a:ext cx="13007511" cy="6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streamlit.testing.v1.AppTest runs app.py in-process, so a rendering error fails the suite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46"/>
            <a:chOff x="0" y="0"/>
            <a:chExt cx="24402453" cy="13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87"/>
            </a:xfrm>
            <a:custGeom>
              <a:avLst/>
              <a:gdLst/>
              <a:ahLst/>
              <a:cxnLst/>
              <a:rect r="r" b="b" t="t" l="l"/>
              <a:pathLst>
                <a:path h="13728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6774" y="637594"/>
            <a:ext cx="15968301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2B4ACB"/>
                </a:solidFill>
                <a:latin typeface="Arimo Bold"/>
                <a:ea typeface="Arimo Bold"/>
                <a:cs typeface="Arimo Bold"/>
                <a:sym typeface="Arimo Bold"/>
              </a:rPr>
              <a:t>HONESTY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973188"/>
            <a:ext cx="15968301" cy="9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4353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Known limits, and what comes next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774" y="1904648"/>
            <a:ext cx="14595624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76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Each limit fails in the safe direction: surface the problem rather than act on a guess.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87860" y="9514580"/>
            <a:ext cx="164720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5"/>
              </a:lnSpc>
            </a:pPr>
            <a:r>
              <a:rPr lang="en-US" sz="1501">
                <a:solidFill>
                  <a:srgbClr val="747E93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287" y="2762317"/>
            <a:ext cx="7730585" cy="4276258"/>
            <a:chOff x="0" y="0"/>
            <a:chExt cx="10307447" cy="5701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07447" cy="5701665"/>
            </a:xfrm>
            <a:custGeom>
              <a:avLst/>
              <a:gdLst/>
              <a:ahLst/>
              <a:cxnLst/>
              <a:rect r="r" b="b" t="t" l="l"/>
              <a:pathLst>
                <a:path h="5701665" w="10307447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lnTo>
                    <a:pt x="9965309" y="0"/>
                  </a:lnTo>
                  <a:cubicBezTo>
                    <a:pt x="10154285" y="0"/>
                    <a:pt x="10307447" y="153162"/>
                    <a:pt x="10307447" y="342138"/>
                  </a:cubicBezTo>
                  <a:lnTo>
                    <a:pt x="10307447" y="5359527"/>
                  </a:lnTo>
                  <a:cubicBezTo>
                    <a:pt x="10307447" y="5548503"/>
                    <a:pt x="10154285" y="5701665"/>
                    <a:pt x="9965309" y="5701665"/>
                  </a:cubicBezTo>
                  <a:lnTo>
                    <a:pt x="342138" y="5701665"/>
                  </a:lnTo>
                  <a:cubicBezTo>
                    <a:pt x="153162" y="5701665"/>
                    <a:pt x="0" y="5548503"/>
                    <a:pt x="0" y="535952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774" y="2772794"/>
            <a:ext cx="7709611" cy="102946"/>
            <a:chOff x="0" y="0"/>
            <a:chExt cx="10279482" cy="137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9507" cy="137287"/>
            </a:xfrm>
            <a:custGeom>
              <a:avLst/>
              <a:gdLst/>
              <a:ahLst/>
              <a:cxnLst/>
              <a:rect r="r" b="b" t="t" l="l"/>
              <a:pathLst>
                <a:path h="137287" w="10279507">
                  <a:moveTo>
                    <a:pt x="0" y="0"/>
                  </a:moveTo>
                  <a:lnTo>
                    <a:pt x="10279507" y="0"/>
                  </a:lnTo>
                  <a:lnTo>
                    <a:pt x="10279507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B5540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8569" y="3089348"/>
            <a:ext cx="6886013" cy="53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5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8569" y="3776253"/>
            <a:ext cx="6413427" cy="303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747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Small local model over-explains or re-checks; the gates hold regardless.</a:t>
            </a:r>
          </a:p>
          <a:p>
            <a:pPr algn="l">
              <a:lnSpc>
                <a:spcPts val="2684"/>
              </a:lnSpc>
            </a:pPr>
            <a:r>
              <a:rPr lang="en-US" sz="1747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Confirmation is keyword-based - an unusual “yes” reads as a non-confirmation.</a:t>
            </a:r>
          </a:p>
          <a:p>
            <a:pPr algn="l">
              <a:lnSpc>
                <a:spcPts val="2684"/>
              </a:lnSpc>
            </a:pPr>
            <a:r>
              <a:rPr lang="en-US" sz="1747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Duplicate detection is heuristic; two real VPN problems in a week get flagged.</a:t>
            </a:r>
          </a:p>
          <a:p>
            <a:pPr algn="l">
              <a:lnSpc>
                <a:spcPts val="2684"/>
              </a:lnSpc>
            </a:pPr>
            <a:r>
              <a:rPr lang="en-US" sz="1747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Single-user demo: SQLite, no auth, the employee ID is taken on trust.</a:t>
            </a:r>
          </a:p>
          <a:p>
            <a:pPr algn="l">
              <a:lnSpc>
                <a:spcPts val="2684"/>
              </a:lnSpc>
            </a:pPr>
            <a:r>
              <a:rPr lang="en-US" sz="1747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Tickets can be created and read, not updated or closed.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14967" y="2762317"/>
            <a:ext cx="7730585" cy="4276258"/>
            <a:chOff x="0" y="0"/>
            <a:chExt cx="10307447" cy="57016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07447" cy="5701665"/>
            </a:xfrm>
            <a:custGeom>
              <a:avLst/>
              <a:gdLst/>
              <a:ahLst/>
              <a:cxnLst/>
              <a:rect r="r" b="b" t="t" l="l"/>
              <a:pathLst>
                <a:path h="5701665" w="10307447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lnTo>
                    <a:pt x="9965309" y="0"/>
                  </a:lnTo>
                  <a:cubicBezTo>
                    <a:pt x="10154285" y="0"/>
                    <a:pt x="10307447" y="153162"/>
                    <a:pt x="10307447" y="342138"/>
                  </a:cubicBezTo>
                  <a:lnTo>
                    <a:pt x="10307447" y="5359527"/>
                  </a:lnTo>
                  <a:cubicBezTo>
                    <a:pt x="10307447" y="5548503"/>
                    <a:pt x="10154285" y="5701665"/>
                    <a:pt x="9965309" y="5701665"/>
                  </a:cubicBezTo>
                  <a:lnTo>
                    <a:pt x="342138" y="5701665"/>
                  </a:lnTo>
                  <a:cubicBezTo>
                    <a:pt x="153162" y="5701665"/>
                    <a:pt x="0" y="5548503"/>
                    <a:pt x="0" y="535952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425454" y="2772794"/>
            <a:ext cx="7709611" cy="102946"/>
            <a:chOff x="0" y="0"/>
            <a:chExt cx="10279482" cy="1372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79507" cy="137287"/>
            </a:xfrm>
            <a:custGeom>
              <a:avLst/>
              <a:gdLst/>
              <a:ahLst/>
              <a:cxnLst/>
              <a:rect r="r" b="b" t="t" l="l"/>
              <a:pathLst>
                <a:path h="137287" w="10279507">
                  <a:moveTo>
                    <a:pt x="0" y="0"/>
                  </a:moveTo>
                  <a:lnTo>
                    <a:pt x="10279507" y="0"/>
                  </a:lnTo>
                  <a:lnTo>
                    <a:pt x="10279507" y="137287"/>
                  </a:lnTo>
                  <a:lnTo>
                    <a:pt x="0" y="137287"/>
                  </a:lnTo>
                  <a:close/>
                </a:path>
              </a:pathLst>
            </a:custGeom>
            <a:solidFill>
              <a:srgbClr val="0B8A5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7258" y="3089348"/>
            <a:ext cx="6886013" cy="53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551" b="true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>Roadmap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7258" y="3785206"/>
            <a:ext cx="6886013" cy="253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Ticket update and close, behind the same confirm gate.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Real identity from SSO, so the employee ID is proven, not typed.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An LLM-judged duplicate check on top of the SQL heuristic.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Escalation routing by category instead of a default Service Desk.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3F495F"/>
                </a:solidFill>
                <a:latin typeface="Arimo"/>
                <a:ea typeface="Arimo"/>
                <a:cs typeface="Arimo"/>
                <a:sym typeface="Arimo"/>
              </a:rPr>
              <a:t>· Answer-quality evaluation set, run in CI alongside the unit tests.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78451" cy="10295039"/>
            <a:chOff x="0" y="0"/>
            <a:chExt cx="2379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8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B4AC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78569" y="1982810"/>
            <a:ext cx="14413059" cy="186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 b="true">
                <a:solidFill>
                  <a:srgbClr val="8FA6FF"/>
                </a:solidFill>
                <a:latin typeface="Arimo Bold"/>
                <a:ea typeface="Arimo Bold"/>
                <a:cs typeface="Arimo Bold"/>
                <a:sym typeface="Arimo Bold"/>
              </a:rPr>
              <a:t>THE ONE-LINE VERSION</a:t>
            </a:r>
          </a:p>
          <a:p>
            <a:pPr algn="l">
              <a:lnSpc>
                <a:spcPts val="6322"/>
              </a:lnSpc>
            </a:pPr>
            <a:r>
              <a:rPr lang="en-US" sz="405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 LLM good enough to understand the request,</a:t>
            </a:r>
          </a:p>
          <a:p>
            <a:pPr algn="l">
              <a:lnSpc>
                <a:spcPts val="6322"/>
              </a:lnSpc>
            </a:pPr>
            <a:r>
              <a:rPr lang="en-US" sz="405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inside a workflow strict enough to be trusted with a write.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8569" y="5277221"/>
            <a:ext cx="6863363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6E7B96"/>
                </a:solidFill>
                <a:latin typeface="Arimo Bold"/>
                <a:ea typeface="Arimo Bold"/>
                <a:cs typeface="Arimo Bold"/>
                <a:sym typeface="Arimo Bold"/>
              </a:rPr>
              <a:t>DEMO IDS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78569" y="5902490"/>
            <a:ext cx="1990373" cy="466706"/>
            <a:chOff x="0" y="0"/>
            <a:chExt cx="2653830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3792" cy="622300"/>
            </a:xfrm>
            <a:custGeom>
              <a:avLst/>
              <a:gdLst/>
              <a:ahLst/>
              <a:cxnLst/>
              <a:rect r="r" b="b" t="t" l="l"/>
              <a:pathLst>
                <a:path h="622300" w="2653792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2616454" y="0"/>
                  </a:lnTo>
                  <a:cubicBezTo>
                    <a:pt x="2637028" y="0"/>
                    <a:pt x="2653792" y="16764"/>
                    <a:pt x="2653792" y="37338"/>
                  </a:cubicBezTo>
                  <a:lnTo>
                    <a:pt x="2653792" y="584962"/>
                  </a:lnTo>
                  <a:cubicBezTo>
                    <a:pt x="2653792" y="605536"/>
                    <a:pt x="2637028" y="622300"/>
                    <a:pt x="2616454" y="622300"/>
                  </a:cubicBezTo>
                  <a:lnTo>
                    <a:pt x="37338" y="622300"/>
                  </a:lnTo>
                  <a:cubicBezTo>
                    <a:pt x="16764" y="622300"/>
                    <a:pt x="0" y="605536"/>
                    <a:pt x="0" y="584962"/>
                  </a:cubicBezTo>
                  <a:close/>
                </a:path>
              </a:pathLst>
            </a:custGeom>
            <a:solidFill>
              <a:srgbClr val="1E2A4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53830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9FB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EMP1024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74853" y="5892260"/>
            <a:ext cx="549068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B6C0D6"/>
                </a:solidFill>
                <a:latin typeface="Arimo"/>
                <a:ea typeface="Arimo"/>
                <a:cs typeface="Arimo"/>
                <a:sym typeface="Arimo"/>
              </a:rPr>
              <a:t>two VPN tickets, one open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78569" y="6533921"/>
            <a:ext cx="1990373" cy="466706"/>
            <a:chOff x="0" y="0"/>
            <a:chExt cx="2653830" cy="62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3792" cy="622300"/>
            </a:xfrm>
            <a:custGeom>
              <a:avLst/>
              <a:gdLst/>
              <a:ahLst/>
              <a:cxnLst/>
              <a:rect r="r" b="b" t="t" l="l"/>
              <a:pathLst>
                <a:path h="622300" w="2653792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2616454" y="0"/>
                  </a:lnTo>
                  <a:cubicBezTo>
                    <a:pt x="2637028" y="0"/>
                    <a:pt x="2653792" y="16764"/>
                    <a:pt x="2653792" y="37338"/>
                  </a:cubicBezTo>
                  <a:lnTo>
                    <a:pt x="2653792" y="584962"/>
                  </a:lnTo>
                  <a:cubicBezTo>
                    <a:pt x="2653792" y="605536"/>
                    <a:pt x="2637028" y="622300"/>
                    <a:pt x="2616454" y="622300"/>
                  </a:cubicBezTo>
                  <a:lnTo>
                    <a:pt x="37338" y="622300"/>
                  </a:lnTo>
                  <a:cubicBezTo>
                    <a:pt x="16764" y="622300"/>
                    <a:pt x="0" y="605536"/>
                    <a:pt x="0" y="584962"/>
                  </a:cubicBezTo>
                  <a:close/>
                </a:path>
              </a:pathLst>
            </a:custGeom>
            <a:solidFill>
              <a:srgbClr val="1E2A4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53830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9FB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EMP1115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774853" y="6523692"/>
            <a:ext cx="549068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B6C0D6"/>
                </a:solidFill>
                <a:latin typeface="Arimo"/>
                <a:ea typeface="Arimo"/>
                <a:cs typeface="Arimo"/>
                <a:sym typeface="Arimo"/>
              </a:rPr>
              <a:t>open laptop hardware ticket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8569" y="7165353"/>
            <a:ext cx="1990373" cy="466706"/>
            <a:chOff x="0" y="0"/>
            <a:chExt cx="2653830" cy="6222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53792" cy="622300"/>
            </a:xfrm>
            <a:custGeom>
              <a:avLst/>
              <a:gdLst/>
              <a:ahLst/>
              <a:cxnLst/>
              <a:rect r="r" b="b" t="t" l="l"/>
              <a:pathLst>
                <a:path h="622300" w="2653792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2616454" y="0"/>
                  </a:lnTo>
                  <a:cubicBezTo>
                    <a:pt x="2637028" y="0"/>
                    <a:pt x="2653792" y="16764"/>
                    <a:pt x="2653792" y="37338"/>
                  </a:cubicBezTo>
                  <a:lnTo>
                    <a:pt x="2653792" y="584962"/>
                  </a:lnTo>
                  <a:cubicBezTo>
                    <a:pt x="2653792" y="605536"/>
                    <a:pt x="2637028" y="622300"/>
                    <a:pt x="2616454" y="622300"/>
                  </a:cubicBezTo>
                  <a:lnTo>
                    <a:pt x="37338" y="622300"/>
                  </a:lnTo>
                  <a:cubicBezTo>
                    <a:pt x="16764" y="622300"/>
                    <a:pt x="0" y="605536"/>
                    <a:pt x="0" y="584962"/>
                  </a:cubicBezTo>
                  <a:close/>
                </a:path>
              </a:pathLst>
            </a:custGeom>
            <a:solidFill>
              <a:srgbClr val="1E2A4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53830" cy="6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  <a:r>
                <a:rPr lang="en-US" sz="1801" b="true">
                  <a:solidFill>
                    <a:srgbClr val="9FB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EMP1067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774853" y="7155123"/>
            <a:ext cx="549068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B6C0D6"/>
                </a:solidFill>
                <a:latin typeface="Arimo"/>
                <a:ea typeface="Arimo"/>
                <a:cs typeface="Arimo"/>
                <a:sym typeface="Arimo"/>
              </a:rPr>
              <a:t>no VPN entitlement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2313" y="5277221"/>
            <a:ext cx="631429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1651" b="true">
                <a:solidFill>
                  <a:srgbClr val="6E7B96"/>
                </a:solidFill>
                <a:latin typeface="Arimo Bold"/>
                <a:ea typeface="Arimo Bold"/>
                <a:cs typeface="Arimo Bold"/>
                <a:sym typeface="Arimo Bold"/>
              </a:rPr>
              <a:t>RUN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2313" y="5816765"/>
            <a:ext cx="6588824" cy="145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C9D3E8"/>
                </a:solidFill>
                <a:latin typeface="Arimo"/>
                <a:ea typeface="Arimo"/>
                <a:cs typeface="Arimo"/>
                <a:sym typeface="Arimo"/>
              </a:rPr>
              <a:t>pip install -r requirements.txt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C9D3E8"/>
                </a:solidFill>
                <a:latin typeface="Arimo"/>
                <a:ea typeface="Arimo"/>
                <a:cs typeface="Arimo"/>
                <a:sym typeface="Arimo"/>
              </a:rPr>
              <a:t>python scripts/seed_db.py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C9D3E8"/>
                </a:solidFill>
                <a:latin typeface="Arimo"/>
                <a:ea typeface="Arimo"/>
                <a:cs typeface="Arimo"/>
                <a:sym typeface="Arimo"/>
              </a:rPr>
              <a:t>streamlit run app.py</a:t>
            </a:r>
          </a:p>
          <a:p>
            <a:pPr algn="l">
              <a:lnSpc>
                <a:spcPts val="2882"/>
              </a:lnSpc>
            </a:pPr>
            <a:r>
              <a:rPr lang="en-US" sz="1876">
                <a:solidFill>
                  <a:srgbClr val="C9D3E8"/>
                </a:solidFill>
                <a:latin typeface="Arimo"/>
                <a:ea typeface="Arimo"/>
                <a:cs typeface="Arimo"/>
                <a:sym typeface="Arimo"/>
              </a:rPr>
              <a:t>python -m pytest -q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DAHU-7RlnfA</dc:identifier>
  <dcterms:modified xsi:type="dcterms:W3CDTF">2011-08-01T06:04:30Z</dcterms:modified>
  <cp:revision>1</cp:revision>
  <dc:title>IT-Support-Assistant-Capstone.pptx</dc:title>
</cp:coreProperties>
</file>